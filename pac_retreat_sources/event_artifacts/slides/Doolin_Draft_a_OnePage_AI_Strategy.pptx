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4"/>
    <p:sldMasterId id="2147483952" r:id="rId5"/>
    <p:sldMasterId id="2147483969" r:id="rId6"/>
  </p:sldMasterIdLst>
  <p:notesMasterIdLst>
    <p:notesMasterId r:id="rId34"/>
  </p:notesMasterIdLst>
  <p:handoutMasterIdLst>
    <p:handoutMasterId r:id="rId35"/>
  </p:handoutMasterIdLst>
  <p:sldIdLst>
    <p:sldId id="256" r:id="rId7"/>
    <p:sldId id="2147481746" r:id="rId8"/>
    <p:sldId id="2147481747" r:id="rId9"/>
    <p:sldId id="2147481736" r:id="rId10"/>
    <p:sldId id="2147481776" r:id="rId11"/>
    <p:sldId id="2147481748" r:id="rId12"/>
    <p:sldId id="2147481764" r:id="rId13"/>
    <p:sldId id="2147481760" r:id="rId14"/>
    <p:sldId id="2147481737" r:id="rId15"/>
    <p:sldId id="2147481758" r:id="rId16"/>
    <p:sldId id="2147481768" r:id="rId17"/>
    <p:sldId id="2147481777" r:id="rId18"/>
    <p:sldId id="2147481769" r:id="rId19"/>
    <p:sldId id="2147481782" r:id="rId20"/>
    <p:sldId id="2147481770" r:id="rId21"/>
    <p:sldId id="2147481783" r:id="rId22"/>
    <p:sldId id="2147481772" r:id="rId23"/>
    <p:sldId id="2147481784" r:id="rId24"/>
    <p:sldId id="2147481773" r:id="rId25"/>
    <p:sldId id="2147481785" r:id="rId26"/>
    <p:sldId id="2147481745" r:id="rId27"/>
    <p:sldId id="2147481787" r:id="rId28"/>
    <p:sldId id="2147481788" r:id="rId29"/>
    <p:sldId id="2147481765" r:id="rId30"/>
    <p:sldId id="2147481766" r:id="rId31"/>
    <p:sldId id="2147481750" r:id="rId32"/>
    <p:sldId id="2147481767" r:id="rId33"/>
  </p:sldIdLst>
  <p:sldSz cx="12192000" cy="6858000"/>
  <p:notesSz cx="6858000" cy="9144000"/>
  <p:embeddedFontLst>
    <p:embeddedFont>
      <p:font typeface="Arial Black" panose="020B0A04020102020204" pitchFamily="34" charset="0"/>
      <p:bold r:id="rId36"/>
    </p:embeddedFont>
    <p:embeddedFont>
      <p:font typeface="Gartner Sans" panose="020B0504030402040204" pitchFamily="34" charset="0"/>
      <p:regular r:id="rId37"/>
      <p:bold r:id="rId38"/>
      <p:italic r:id="rId39"/>
      <p:boldItalic r:id="rId40"/>
    </p:embeddedFont>
    <p:embeddedFont>
      <p:font typeface="Gartner Sans Semibold" panose="020B0704030402040204" pitchFamily="34" charset="0"/>
      <p:regular r:id="rId41"/>
      <p:bold r:id="rId42"/>
      <p:italic r:id="rId43"/>
      <p:boldItalic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1746"/>
            <p14:sldId id="2147481747"/>
            <p14:sldId id="2147481736"/>
            <p14:sldId id="2147481776"/>
            <p14:sldId id="2147481748"/>
            <p14:sldId id="2147481764"/>
            <p14:sldId id="2147481760"/>
            <p14:sldId id="2147481737"/>
            <p14:sldId id="2147481758"/>
            <p14:sldId id="2147481768"/>
            <p14:sldId id="2147481777"/>
            <p14:sldId id="2147481769"/>
            <p14:sldId id="2147481782"/>
            <p14:sldId id="2147481770"/>
            <p14:sldId id="2147481783"/>
            <p14:sldId id="2147481772"/>
            <p14:sldId id="2147481784"/>
            <p14:sldId id="2147481773"/>
            <p14:sldId id="2147481785"/>
            <p14:sldId id="2147481745"/>
            <p14:sldId id="2147481787"/>
            <p14:sldId id="2147481788"/>
            <p14:sldId id="2147481765"/>
            <p14:sldId id="2147481766"/>
            <p14:sldId id="2147481750"/>
            <p14:sldId id="21474817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BC0A3D19-93B5-5110-22E1-3EC9B7D8B524}" name="Kristen Richardson" initials="KR" userId="S::Kristen.Richardson@gartner.com::55a7f3b5-713e-4ea3-9e24-56a2fb5ceedf"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9DFE4E29-726D-86A7-043D-AFB078A9ED96}" name="Kristen Richardson" initials="KR" userId="S::kristen.richardson@gartner.com::55a7f3b5-713e-4ea3-9e24-56a2fb5ceedf" providerId="AD"/>
  <p188:author id="{DEA66DC4-FA32-A0B9-6798-C07B7D483537}" name="Tracie Valentino" initials="TV" userId="S::tracie.valentino@gartner.com::d210d26e-81a2-450b-9bda-2e853d352f6a" providerId="AD"/>
  <p188:author id="{69356CCF-29D1-70B7-FE65-53C4050E74F1}" name="Maureen Johnson" initials="MJ" userId="S::Maureen.Johnson@gartner.com::90dbf711-2323-48c6-8fab-a608b913e366"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DCF059-6CAD-4CCD-98D8-7C2CCABAB024}" v="2" dt="2026-01-16T22:57:12.478"/>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8" autoAdjust="0"/>
    <p:restoredTop sz="94665"/>
  </p:normalViewPr>
  <p:slideViewPr>
    <p:cSldViewPr snapToGrid="0">
      <p:cViewPr varScale="1">
        <p:scale>
          <a:sx n="105" d="100"/>
          <a:sy n="105" d="100"/>
        </p:scale>
        <p:origin x="792" y="96"/>
      </p:cViewPr>
      <p:guideLst/>
    </p:cSldViewPr>
  </p:slideViewPr>
  <p:notesTextViewPr>
    <p:cViewPr>
      <p:scale>
        <a:sx n="1" d="1"/>
        <a:sy n="1" d="1"/>
      </p:scale>
      <p:origin x="0" y="0"/>
    </p:cViewPr>
  </p:notesTextViewPr>
  <p:sorterViewPr>
    <p:cViewPr>
      <p:scale>
        <a:sx n="66" d="100"/>
        <a:sy n="66" d="100"/>
      </p:scale>
      <p:origin x="0" y="-144"/>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4.fntdata"/><Relationship Id="rId21" Type="http://schemas.openxmlformats.org/officeDocument/2006/relationships/slide" Target="slides/slide15.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2.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font" Target="fonts/font3.fntdata"/><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5/28/2026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dirty="0"/>
              <a:t>Ver 2026-0114</a:t>
            </a:r>
          </a:p>
          <a:p>
            <a:endParaRPr lang="en-US" dirty="0"/>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100605"/>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nvPr>
        </p:nvSpPr>
        <p:spPr>
          <a:xfrm>
            <a:off x="1333500" y="658813"/>
            <a:ext cx="41910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8961D-7FDB-8EAF-EE47-9D6B4ECD2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5056E-46A3-5B02-3F11-3EEA2F2A0DC7}"/>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A166CB4E-5ED7-5396-DAF7-C7C3BC0D6E7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282150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62895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r>
              <a:rPr lang="en-US"/>
              <a:t>Use cases</a:t>
            </a:r>
          </a:p>
          <a:p>
            <a:r>
              <a:rPr lang="en-US"/>
              <a:t>Metrics </a:t>
            </a:r>
          </a:p>
          <a:p>
            <a:r>
              <a:rPr lang="en-US"/>
              <a:t>Adoption expectations </a:t>
            </a:r>
          </a:p>
          <a:p>
            <a:r>
              <a:rPr lang="en-US"/>
              <a:t>Architectures </a:t>
            </a:r>
          </a:p>
          <a:p>
            <a:r>
              <a:rPr lang="en-US"/>
              <a:t>Budgets</a:t>
            </a:r>
          </a:p>
          <a:p>
            <a:r>
              <a:rPr lang="en-US"/>
              <a:t>The Environment (“AI is Important!”)</a:t>
            </a:r>
          </a:p>
          <a:p>
            <a:r>
              <a:rPr lang="en-US"/>
              <a:t>Competitive analysis</a:t>
            </a:r>
          </a:p>
          <a:p>
            <a:r>
              <a:rPr lang="en-US"/>
              <a:t>Technical specs</a:t>
            </a:r>
          </a:p>
          <a:p>
            <a:r>
              <a:rPr lang="en-US"/>
              <a:t>Maturity definition </a:t>
            </a:r>
          </a:p>
          <a:p>
            <a:endParaRPr lang="en-US"/>
          </a:p>
        </p:txBody>
      </p:sp>
    </p:spTree>
    <p:extLst>
      <p:ext uri="{BB962C8B-B14F-4D97-AF65-F5344CB8AC3E}">
        <p14:creationId xmlns:p14="http://schemas.microsoft.com/office/powerpoint/2010/main" val="30739740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731520" rIns="182880" bIns="91440" anchor="t" anchorCtr="0">
            <a:spAutoFit/>
          </a:bodyPr>
          <a:lstStyle>
            <a:lvl1pPr algn="l">
              <a:defRPr sz="4400"/>
            </a:lvl1pPr>
          </a:lstStyle>
          <a:p>
            <a:r>
              <a:rPr lang="en-US" dirty="0"/>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2149713"/>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Gartner for XXX Leaders</a:t>
            </a:r>
          </a:p>
        </p:txBody>
      </p:sp>
      <p:sp>
        <p:nvSpPr>
          <p:cNvPr id="7" name="TextBox 6">
            <a:extLst>
              <a:ext uri="{FF2B5EF4-FFF2-40B4-BE49-F238E27FC236}">
                <a16:creationId xmlns:a16="http://schemas.microsoft.com/office/drawing/2014/main" id="{DACFD00B-8D9A-241E-C294-5564680EDB20}"/>
              </a:ext>
            </a:extLst>
          </p:cNvPr>
          <p:cNvSpPr txBox="1"/>
          <p:nvPr userDrawn="1"/>
        </p:nvSpPr>
        <p:spPr>
          <a:xfrm>
            <a:off x="685800" y="5199950"/>
            <a:ext cx="7862700" cy="852541"/>
          </a:xfrm>
          <a:prstGeom prst="rect">
            <a:avLst/>
          </a:prstGeom>
          <a:noFill/>
        </p:spPr>
        <p:txBody>
          <a:bodyPr wrap="square" lIns="0" tIns="0" rIns="0" bIns="0" rtlCol="0" anchor="b" anchorCtr="0">
            <a:spAutoFit/>
          </a:bodyPr>
          <a:lstStyle/>
          <a:p>
            <a:pPr marL="0" marR="0" lvl="0" indent="0" algn="l" defTabSz="457200" rtl="0" eaLnBrk="1" fontAlgn="auto" latinLnBrk="0" hangingPunct="1">
              <a:lnSpc>
                <a:spcPct val="90000"/>
              </a:lnSpc>
              <a:spcBef>
                <a:spcPts val="200"/>
              </a:spcBef>
              <a:spcAft>
                <a:spcPts val="0"/>
              </a:spcAft>
              <a:buClrTx/>
              <a:buSzTx/>
              <a:buFontTx/>
              <a:buNone/>
              <a:tabLst/>
              <a:defRPr/>
            </a:pPr>
            <a:r>
              <a:rPr lang="en-US" sz="800" b="1" dirty="0">
                <a:solidFill>
                  <a:srgbClr val="DE0A01"/>
                </a:solidFill>
              </a:rPr>
              <a:t>Approved for external reuse — not for resale.</a:t>
            </a:r>
            <a:endParaRPr lang="en-US" sz="800" dirty="0"/>
          </a:p>
          <a:p>
            <a:pPr>
              <a:lnSpc>
                <a:spcPct val="90000"/>
              </a:lnSpc>
              <a:spcBef>
                <a:spcPts val="200"/>
              </a:spcBef>
              <a:spcAft>
                <a:spcPts val="0"/>
              </a:spcAft>
            </a:pPr>
            <a:r>
              <a:rPr lang="en-US" sz="800" dirty="0"/>
              <a:t>Unless otherwise marked for external use, the items in this Gartner Tool are for internal noncommercial use by the licensed Gartner client. The materials contained in this Tool may not be repackaged or resold. Gartner makes no representations or warranties as to the suitability of this Tool for any particular purpose, and disclaims all liabilities for any damages, whether direct, consequential, incidental or special, arising out of the use of or inability to use this material or the information provided herein.</a:t>
            </a:r>
          </a:p>
          <a:p>
            <a:pPr>
              <a:lnSpc>
                <a:spcPct val="90000"/>
              </a:lnSpc>
              <a:spcBef>
                <a:spcPts val="200"/>
              </a:spcBef>
              <a:spcAft>
                <a:spcPts val="0"/>
              </a:spcAft>
            </a:pPr>
            <a:r>
              <a:rPr lang="en-US" sz="800" dirty="0"/>
              <a:t>The instructions, intent and objective of this template are contained in the source document. Please refer back to that document for details.</a:t>
            </a:r>
          </a:p>
          <a:p>
            <a:pPr>
              <a:lnSpc>
                <a:spcPct val="90000"/>
              </a:lnSpc>
              <a:spcBef>
                <a:spcPts val="200"/>
              </a:spcBef>
              <a:spcAft>
                <a:spcPts val="0"/>
              </a:spcAft>
            </a:pPr>
            <a:r>
              <a:rPr lang="en-US" sz="800" b="1" dirty="0">
                <a:solidFill>
                  <a:srgbClr val="6F7878"/>
                </a:solidFill>
              </a:rPr>
              <a:t>Notes accompany this presentation.</a:t>
            </a:r>
            <a:br>
              <a:rPr lang="en-US" sz="800" b="1" dirty="0">
                <a:solidFill>
                  <a:srgbClr val="6F7878"/>
                </a:solidFill>
              </a:rPr>
            </a:br>
            <a:r>
              <a:rPr lang="en-US" sz="800" b="1" dirty="0">
                <a:solidFill>
                  <a:srgbClr val="6F7878"/>
                </a:solidFill>
              </a:rPr>
              <a:t>Please select Notes Page view to examine the Notes text. </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2.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image" Target="../media/image1.pn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7">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C6FD1AB8-BC4B-C0B0-7BDC-BA24387708A3}"/>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dirty="0">
                <a:solidFill>
                  <a:schemeClr val="tx1"/>
                </a:solidFill>
              </a:rPr>
              <a:t>Gartner Tool</a:t>
            </a:r>
          </a:p>
        </p:txBody>
      </p:sp>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929" r:id="rId1"/>
    <p:sldLayoutId id="2147483854" r:id="rId2"/>
    <p:sldLayoutId id="2147483855" r:id="rId3"/>
    <p:sldLayoutId id="2147483856" r:id="rId4"/>
    <p:sldLayoutId id="2147483857" r:id="rId5"/>
    <p:sldLayoutId id="2147483858" r:id="rId6"/>
    <p:sldLayoutId id="2147483859" r:id="rId7"/>
    <p:sldLayoutId id="2147483860" r:id="rId8"/>
    <p:sldLayoutId id="2147483943" r:id="rId9"/>
    <p:sldLayoutId id="2147483944" r:id="rId10"/>
    <p:sldLayoutId id="2147483948" r:id="rId11"/>
    <p:sldLayoutId id="2147483947" r:id="rId12"/>
    <p:sldLayoutId id="2147483867" r:id="rId13"/>
    <p:sldLayoutId id="2147483941" r:id="rId14"/>
    <p:sldLayoutId id="2147483949" r:id="rId15"/>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
        <p:nvSpPr>
          <p:cNvPr id="4" name="TextBox 3">
            <a:extLst>
              <a:ext uri="{FF2B5EF4-FFF2-40B4-BE49-F238E27FC236}">
                <a16:creationId xmlns:a16="http://schemas.microsoft.com/office/drawing/2014/main" id="{A124F1BB-9B70-FE65-6824-710EE92FB13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dirty="0">
                <a:solidFill>
                  <a:schemeClr val="tx1"/>
                </a:solidFill>
              </a:rPr>
              <a:t>Gartner Tool</a:t>
            </a:r>
          </a:p>
        </p:txBody>
      </p:sp>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5AC81520-B590-E338-ED37-D470E9E476C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dirty="0">
                <a:solidFill>
                  <a:schemeClr val="tx1"/>
                </a:solidFill>
              </a:rPr>
              <a:t>Gartner Tool</a:t>
            </a:r>
          </a:p>
        </p:txBody>
      </p:sp>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www.gartner.com/document-reader/document/6676234" TargetMode="External"/><Relationship Id="rId2" Type="http://schemas.openxmlformats.org/officeDocument/2006/relationships/hyperlink" Target="https://www.gartner.com/document-reader/document/7037198" TargetMode="External"/><Relationship Id="rId1" Type="http://schemas.openxmlformats.org/officeDocument/2006/relationships/slideLayout" Target="../slideLayouts/slideLayout4.xml"/><Relationship Id="rId5" Type="http://schemas.openxmlformats.org/officeDocument/2006/relationships/hyperlink" Target="https://www.gartner.com/document-reader/document/5938007" TargetMode="External"/><Relationship Id="rId4" Type="http://schemas.openxmlformats.org/officeDocument/2006/relationships/hyperlink" Target="https://www.gartner.com/document-reader/document/638504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32255C-78E0-9949-0AB9-B3AD704F460E}"/>
              </a:ext>
            </a:extLst>
          </p:cNvPr>
          <p:cNvSpPr>
            <a:spLocks noGrp="1"/>
          </p:cNvSpPr>
          <p:nvPr>
            <p:ph type="ctrTitle"/>
          </p:nvPr>
        </p:nvSpPr>
        <p:spPr>
          <a:xfrm>
            <a:off x="1371600" y="2149713"/>
            <a:ext cx="8426919" cy="2062103"/>
          </a:xfrm>
        </p:spPr>
        <p:txBody>
          <a:bodyPr/>
          <a:lstStyle/>
          <a:p>
            <a:r>
              <a:rPr lang="en-US" dirty="0"/>
              <a:t>Make a One-Page AI Strategy</a:t>
            </a:r>
            <a:br>
              <a:rPr lang="en-US" dirty="0"/>
            </a:br>
            <a:r>
              <a:rPr lang="en-US" sz="1800" dirty="0"/>
              <a:t>The one-page strategy is a living document—use it to guide decisions, foster alignment, and drive measurable progress on your AI journey. </a:t>
            </a: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xmlns:ahyp="http://schemas.microsoft.com/office/drawing/2018/hyperlinkcolo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836720-9034-E297-ECC2-5A5772FFF4F1}"/>
              </a:ext>
            </a:extLst>
          </p:cNvPr>
          <p:cNvSpPr>
            <a:spLocks noGrp="1"/>
          </p:cNvSpPr>
          <p:nvPr>
            <p:ph type="title"/>
          </p:nvPr>
        </p:nvSpPr>
        <p:spPr/>
        <p:txBody>
          <a:bodyPr/>
          <a:lstStyle/>
          <a:p>
            <a:r>
              <a:rPr lang="en-US"/>
              <a:t>What’s in this Package</a:t>
            </a:r>
          </a:p>
        </p:txBody>
      </p:sp>
      <p:sp>
        <p:nvSpPr>
          <p:cNvPr id="5" name="Content Placeholder 4">
            <a:extLst>
              <a:ext uri="{FF2B5EF4-FFF2-40B4-BE49-F238E27FC236}">
                <a16:creationId xmlns:a16="http://schemas.microsoft.com/office/drawing/2014/main" id="{88BEF5B6-AC68-0BF5-8138-F9FF4EA88E83}"/>
              </a:ext>
            </a:extLst>
          </p:cNvPr>
          <p:cNvSpPr>
            <a:spLocks noGrp="1"/>
          </p:cNvSpPr>
          <p:nvPr>
            <p:ph idx="1"/>
          </p:nvPr>
        </p:nvSpPr>
        <p:spPr/>
        <p:txBody>
          <a:bodyPr/>
          <a:lstStyle/>
          <a:p>
            <a:r>
              <a:rPr lang="en-US"/>
              <a:t>What to expect</a:t>
            </a:r>
          </a:p>
          <a:p>
            <a:r>
              <a:rPr lang="en-US"/>
              <a:t>AI Vision – a key first step </a:t>
            </a:r>
          </a:p>
          <a:p>
            <a:r>
              <a:rPr lang="en-US"/>
              <a:t>6 Elements of Maturity, Multiple Choice + Details/Customization</a:t>
            </a:r>
          </a:p>
          <a:p>
            <a:r>
              <a:rPr lang="en-US"/>
              <a:t>Template for 1-Page Strategy (you will have completed it)</a:t>
            </a:r>
          </a:p>
          <a:p>
            <a:r>
              <a:rPr lang="en-US"/>
              <a:t>What your 1-Page Strategy is not </a:t>
            </a:r>
          </a:p>
        </p:txBody>
      </p:sp>
    </p:spTree>
    <p:extLst>
      <p:ext uri="{BB962C8B-B14F-4D97-AF65-F5344CB8AC3E}">
        <p14:creationId xmlns:p14="http://schemas.microsoft.com/office/powerpoint/2010/main" val="637028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D8C1F-7DC0-B984-7F8B-B134DB750BD7}"/>
              </a:ext>
            </a:extLst>
          </p:cNvPr>
          <p:cNvSpPr>
            <a:spLocks noGrp="1"/>
          </p:cNvSpPr>
          <p:nvPr>
            <p:ph type="title"/>
          </p:nvPr>
        </p:nvSpPr>
        <p:spPr/>
        <p:txBody>
          <a:bodyPr/>
          <a:lstStyle/>
          <a:p>
            <a:r>
              <a:rPr lang="en-US"/>
              <a:t>What to Expect </a:t>
            </a:r>
          </a:p>
        </p:txBody>
      </p:sp>
    </p:spTree>
    <p:extLst>
      <p:ext uri="{BB962C8B-B14F-4D97-AF65-F5344CB8AC3E}">
        <p14:creationId xmlns:p14="http://schemas.microsoft.com/office/powerpoint/2010/main" val="2619581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BEC9BE-FAB9-80A7-839C-FAF05EB5601E}"/>
              </a:ext>
            </a:extLst>
          </p:cNvPr>
          <p:cNvSpPr>
            <a:spLocks noGrp="1"/>
          </p:cNvSpPr>
          <p:nvPr>
            <p:ph type="title"/>
          </p:nvPr>
        </p:nvSpPr>
        <p:spPr/>
        <p:txBody>
          <a:bodyPr/>
          <a:lstStyle/>
          <a:p>
            <a:r>
              <a:rPr lang="en-US"/>
              <a:t>You Will Have a 1-Page Strategy in 7 Steps…</a:t>
            </a:r>
          </a:p>
        </p:txBody>
      </p:sp>
      <p:sp>
        <p:nvSpPr>
          <p:cNvPr id="5" name="Content Placeholder 4">
            <a:extLst>
              <a:ext uri="{FF2B5EF4-FFF2-40B4-BE49-F238E27FC236}">
                <a16:creationId xmlns:a16="http://schemas.microsoft.com/office/drawing/2014/main" id="{F6A7B24E-6B9B-1AE4-C2D4-ED1EE2BD516B}"/>
              </a:ext>
            </a:extLst>
          </p:cNvPr>
          <p:cNvSpPr>
            <a:spLocks noGrp="1"/>
          </p:cNvSpPr>
          <p:nvPr>
            <p:ph sz="half" idx="4294967295"/>
          </p:nvPr>
        </p:nvSpPr>
        <p:spPr>
          <a:xfrm>
            <a:off x="457200" y="1527048"/>
            <a:ext cx="4151313" cy="4462463"/>
          </a:xfrm>
        </p:spPr>
        <p:txBody>
          <a:bodyPr/>
          <a:lstStyle/>
          <a:p>
            <a:r>
              <a:rPr lang="en-US"/>
              <a:t>Good-enough answers are good! </a:t>
            </a:r>
          </a:p>
          <a:p>
            <a:r>
              <a:rPr lang="en-US"/>
              <a:t>Try not to “check all that apply” </a:t>
            </a:r>
          </a:p>
          <a:p>
            <a:r>
              <a:rPr lang="en-US"/>
              <a:t>Focus on the audiences for the strategy</a:t>
            </a:r>
          </a:p>
          <a:p>
            <a:r>
              <a:rPr lang="en-US"/>
              <a:t>Low- and Mid-Maturity organizations will find it easiest to leverage this tool  </a:t>
            </a:r>
          </a:p>
        </p:txBody>
      </p:sp>
      <p:pic>
        <p:nvPicPr>
          <p:cNvPr id="7" name="Picture 6" descr="A screenshot of a computer&#10;&#10;AI-generated content may be incorrect.">
            <a:extLst>
              <a:ext uri="{FF2B5EF4-FFF2-40B4-BE49-F238E27FC236}">
                <a16:creationId xmlns:a16="http://schemas.microsoft.com/office/drawing/2014/main" id="{54791B53-7347-F9E6-3887-351EB9866FC7}"/>
              </a:ext>
            </a:extLst>
          </p:cNvPr>
          <p:cNvPicPr>
            <a:picLocks noChangeAspect="1"/>
          </p:cNvPicPr>
          <p:nvPr/>
        </p:nvPicPr>
        <p:blipFill>
          <a:blip r:embed="rId2">
            <a:extLst>
              <a:ext uri="{28A0092B-C50C-407E-A947-70E740481C1C}">
                <a14:useLocalDpi xmlns:a14="http://schemas.microsoft.com/office/drawing/2010/main" val="0"/>
              </a:ext>
            </a:extLst>
          </a:blip>
          <a:srcRect l="2124" t="1157" r="1471" b="1"/>
          <a:stretch>
            <a:fillRect/>
          </a:stretch>
        </p:blipFill>
        <p:spPr>
          <a:xfrm>
            <a:off x="4737099" y="1527048"/>
            <a:ext cx="7287419" cy="3813667"/>
          </a:xfrm>
          <a:prstGeom prst="rect">
            <a:avLst/>
          </a:prstGeom>
        </p:spPr>
      </p:pic>
    </p:spTree>
    <p:extLst>
      <p:ext uri="{BB962C8B-B14F-4D97-AF65-F5344CB8AC3E}">
        <p14:creationId xmlns:p14="http://schemas.microsoft.com/office/powerpoint/2010/main" val="1938906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B18F4-3E8B-13A3-2A9A-54EB106987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7C727F-860C-B623-C2B3-6423A32BDD95}"/>
              </a:ext>
            </a:extLst>
          </p:cNvPr>
          <p:cNvSpPr>
            <a:spLocks noGrp="1"/>
          </p:cNvSpPr>
          <p:nvPr>
            <p:ph type="title"/>
          </p:nvPr>
        </p:nvSpPr>
        <p:spPr/>
        <p:txBody>
          <a:bodyPr/>
          <a:lstStyle/>
          <a:p>
            <a:r>
              <a:rPr lang="en-US"/>
              <a:t>AI Strategy Title</a:t>
            </a:r>
          </a:p>
        </p:txBody>
      </p:sp>
      <p:sp>
        <p:nvSpPr>
          <p:cNvPr id="5" name="Rectangle 4">
            <a:extLst>
              <a:ext uri="{FF2B5EF4-FFF2-40B4-BE49-F238E27FC236}">
                <a16:creationId xmlns:a16="http://schemas.microsoft.com/office/drawing/2014/main" id="{C6431276-63AA-D486-485A-9EF79A1415CA}"/>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7" name="Rectangle 6">
            <a:extLst>
              <a:ext uri="{FF2B5EF4-FFF2-40B4-BE49-F238E27FC236}">
                <a16:creationId xmlns:a16="http://schemas.microsoft.com/office/drawing/2014/main" id="{B4DE737E-6997-C5C3-D4D8-B222CC49F9D7}"/>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8" name="Rectangle 7">
            <a:extLst>
              <a:ext uri="{FF2B5EF4-FFF2-40B4-BE49-F238E27FC236}">
                <a16:creationId xmlns:a16="http://schemas.microsoft.com/office/drawing/2014/main" id="{199CC578-FDBF-9AB2-C6E7-CFCB1448D6AF}"/>
              </a:ext>
            </a:extLst>
          </p:cNvPr>
          <p:cNvSpPr/>
          <p:nvPr/>
        </p:nvSpPr>
        <p:spPr>
          <a:xfrm>
            <a:off x="6328231" y="1400629"/>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9" name="Rectangle 8">
            <a:extLst>
              <a:ext uri="{FF2B5EF4-FFF2-40B4-BE49-F238E27FC236}">
                <a16:creationId xmlns:a16="http://schemas.microsoft.com/office/drawing/2014/main" id="{6107BAD6-D04F-409C-ED01-A6372FBBA6B4}"/>
              </a:ext>
            </a:extLst>
          </p:cNvPr>
          <p:cNvSpPr/>
          <p:nvPr/>
        </p:nvSpPr>
        <p:spPr>
          <a:xfrm>
            <a:off x="369169" y="2960918"/>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0" name="Rectangle 9">
            <a:extLst>
              <a:ext uri="{FF2B5EF4-FFF2-40B4-BE49-F238E27FC236}">
                <a16:creationId xmlns:a16="http://schemas.microsoft.com/office/drawing/2014/main" id="{79AE6F26-900B-8505-3C70-6C51F79B93CB}"/>
              </a:ext>
            </a:extLst>
          </p:cNvPr>
          <p:cNvSpPr/>
          <p:nvPr/>
        </p:nvSpPr>
        <p:spPr>
          <a:xfrm>
            <a:off x="6325181" y="2968175"/>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1" name="Rectangle 10">
            <a:extLst>
              <a:ext uri="{FF2B5EF4-FFF2-40B4-BE49-F238E27FC236}">
                <a16:creationId xmlns:a16="http://schemas.microsoft.com/office/drawing/2014/main" id="{C944CFC2-1690-96BF-7845-DB0123E094F9}"/>
              </a:ext>
            </a:extLst>
          </p:cNvPr>
          <p:cNvSpPr/>
          <p:nvPr/>
        </p:nvSpPr>
        <p:spPr>
          <a:xfrm>
            <a:off x="369169" y="4535713"/>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2" name="Rectangle 11">
            <a:extLst>
              <a:ext uri="{FF2B5EF4-FFF2-40B4-BE49-F238E27FC236}">
                <a16:creationId xmlns:a16="http://schemas.microsoft.com/office/drawing/2014/main" id="{6476B5EB-8530-9D4B-AB67-C0E4C8DF691F}"/>
              </a:ext>
            </a:extLst>
          </p:cNvPr>
          <p:cNvSpPr/>
          <p:nvPr/>
        </p:nvSpPr>
        <p:spPr>
          <a:xfrm>
            <a:off x="6325181" y="4542970"/>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3" name="TextBox 12">
            <a:extLst>
              <a:ext uri="{FF2B5EF4-FFF2-40B4-BE49-F238E27FC236}">
                <a16:creationId xmlns:a16="http://schemas.microsoft.com/office/drawing/2014/main" id="{8E1E55FD-7346-85D0-84FC-73363060660E}"/>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
        <p:nvSpPr>
          <p:cNvPr id="14" name="TextBox 13">
            <a:extLst>
              <a:ext uri="{FF2B5EF4-FFF2-40B4-BE49-F238E27FC236}">
                <a16:creationId xmlns:a16="http://schemas.microsoft.com/office/drawing/2014/main" id="{7BB66E08-7957-90E6-8DC8-95A97CCB4E6D}"/>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54A628C3-C202-AFBD-3978-DC928E42677B}"/>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5216FEA5-577D-E2BB-35EA-FA3449B84201}"/>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1B93C371-D7ED-5CFE-816D-F8440BAEA200}"/>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8" name="TextBox 17">
            <a:extLst>
              <a:ext uri="{FF2B5EF4-FFF2-40B4-BE49-F238E27FC236}">
                <a16:creationId xmlns:a16="http://schemas.microsoft.com/office/drawing/2014/main" id="{E1491191-1A9A-13C1-D146-29379B34CC7E}"/>
              </a:ext>
            </a:extLst>
          </p:cNvPr>
          <p:cNvSpPr txBox="1"/>
          <p:nvPr/>
        </p:nvSpPr>
        <p:spPr>
          <a:xfrm>
            <a:off x="6443397" y="2983128"/>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Organization</a:t>
            </a:r>
          </a:p>
        </p:txBody>
      </p:sp>
      <p:sp>
        <p:nvSpPr>
          <p:cNvPr id="19" name="TextBox 18">
            <a:extLst>
              <a:ext uri="{FF2B5EF4-FFF2-40B4-BE49-F238E27FC236}">
                <a16:creationId xmlns:a16="http://schemas.microsoft.com/office/drawing/2014/main" id="{7FCC1DBF-CA85-65C9-2F40-6C762B477D7E}"/>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43D49730-9C32-DB1A-F696-CEEA7AC77FFA}"/>
              </a:ext>
            </a:extLst>
          </p:cNvPr>
          <p:cNvSpPr txBox="1">
            <a:spLocks/>
          </p:cNvSpPr>
          <p:nvPr/>
        </p:nvSpPr>
        <p:spPr>
          <a:xfrm>
            <a:off x="470321" y="1993989"/>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2035210A-1D39-A33F-1280-F2585919F4FA}"/>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6A8EDFFE-C9E9-6AA6-A1AE-C8C9FCC829A3}"/>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29" name="TextBox 28">
            <a:extLst>
              <a:ext uri="{FF2B5EF4-FFF2-40B4-BE49-F238E27FC236}">
                <a16:creationId xmlns:a16="http://schemas.microsoft.com/office/drawing/2014/main" id="{3E910705-5BFE-740C-A2D5-749E47C13588}"/>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0632F32A-D558-8F11-D22A-FBFF55D2F06B}"/>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31" name="TextBox 30">
            <a:extLst>
              <a:ext uri="{FF2B5EF4-FFF2-40B4-BE49-F238E27FC236}">
                <a16:creationId xmlns:a16="http://schemas.microsoft.com/office/drawing/2014/main" id="{6765BFFA-2BC4-4E20-1604-DE9C097579F5}"/>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2" name="Rectangle 31">
            <a:extLst>
              <a:ext uri="{FF2B5EF4-FFF2-40B4-BE49-F238E27FC236}">
                <a16:creationId xmlns:a16="http://schemas.microsoft.com/office/drawing/2014/main" id="{05CE798F-5637-C91E-2EE6-513647B50DEC}"/>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5AC7998F-191A-AD40-9F69-AB9D60A29C84}"/>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4" name="TextBox 33">
            <a:extLst>
              <a:ext uri="{FF2B5EF4-FFF2-40B4-BE49-F238E27FC236}">
                <a16:creationId xmlns:a16="http://schemas.microsoft.com/office/drawing/2014/main" id="{8DCE54FC-BACB-1037-1E1B-31AA9558BDCA}"/>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D3242AE3-DD69-9C36-CD9A-C77F591732BE}"/>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36" name="TextBox 35">
            <a:extLst>
              <a:ext uri="{FF2B5EF4-FFF2-40B4-BE49-F238E27FC236}">
                <a16:creationId xmlns:a16="http://schemas.microsoft.com/office/drawing/2014/main" id="{3BB02C44-5A38-2DBD-0499-34BFB86DABBE}"/>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7" name="Rectangle 36">
            <a:extLst>
              <a:ext uri="{FF2B5EF4-FFF2-40B4-BE49-F238E27FC236}">
                <a16:creationId xmlns:a16="http://schemas.microsoft.com/office/drawing/2014/main" id="{AF3BEBB0-3E2C-CE70-6A4D-1D90795631C2}"/>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67CBD370-9EE3-7E1B-73D4-EDEB242B3265}"/>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9" name="TextBox 38">
            <a:extLst>
              <a:ext uri="{FF2B5EF4-FFF2-40B4-BE49-F238E27FC236}">
                <a16:creationId xmlns:a16="http://schemas.microsoft.com/office/drawing/2014/main" id="{EF773DF6-CD82-83A8-199E-5D7AFEF0CD97}"/>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0" name="TextBox 39">
            <a:extLst>
              <a:ext uri="{FF2B5EF4-FFF2-40B4-BE49-F238E27FC236}">
                <a16:creationId xmlns:a16="http://schemas.microsoft.com/office/drawing/2014/main" id="{C73ED004-F9E6-2DAD-5FAB-CC037A03C459}"/>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1" name="TextBox 40">
            <a:extLst>
              <a:ext uri="{FF2B5EF4-FFF2-40B4-BE49-F238E27FC236}">
                <a16:creationId xmlns:a16="http://schemas.microsoft.com/office/drawing/2014/main" id="{AF4BF976-71F8-CBAA-CEC9-A43CA47B8843}"/>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F3935BAB-4039-4520-B956-0CDC9F111395}"/>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3" name="TextBox 42">
            <a:extLst>
              <a:ext uri="{FF2B5EF4-FFF2-40B4-BE49-F238E27FC236}">
                <a16:creationId xmlns:a16="http://schemas.microsoft.com/office/drawing/2014/main" id="{966E2468-8E0C-CB6D-F217-C3BF8819D9CD}"/>
              </a:ext>
            </a:extLst>
          </p:cNvPr>
          <p:cNvSpPr txBox="1">
            <a:spLocks/>
          </p:cNvSpPr>
          <p:nvPr/>
        </p:nvSpPr>
        <p:spPr>
          <a:xfrm>
            <a:off x="9158228" y="2010936"/>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D1CCDF01-5437-2284-C272-6846B9440A4E}"/>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C205F89B-E33B-EB95-09C0-F65DD3682DF6}"/>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6" name="TextBox 45">
            <a:extLst>
              <a:ext uri="{FF2B5EF4-FFF2-40B4-BE49-F238E27FC236}">
                <a16:creationId xmlns:a16="http://schemas.microsoft.com/office/drawing/2014/main" id="{E6BE2E1D-4B60-B041-4CEE-0A2793F19003}"/>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7" name="Rectangle 46">
            <a:extLst>
              <a:ext uri="{FF2B5EF4-FFF2-40B4-BE49-F238E27FC236}">
                <a16:creationId xmlns:a16="http://schemas.microsoft.com/office/drawing/2014/main" id="{FD338E43-2E50-D6AF-67DA-5A38BD6CD19E}"/>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46C9F238-C6F1-1785-FA96-8134A2815201}"/>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9" name="TextBox 48">
            <a:extLst>
              <a:ext uri="{FF2B5EF4-FFF2-40B4-BE49-F238E27FC236}">
                <a16:creationId xmlns:a16="http://schemas.microsoft.com/office/drawing/2014/main" id="{7162F648-1B3E-40DD-46EF-7B6F6DCE6821}"/>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C7DF4051-6A27-FF3B-8C22-B8DFDEB2FB1F}"/>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51" name="TextBox 50">
            <a:extLst>
              <a:ext uri="{FF2B5EF4-FFF2-40B4-BE49-F238E27FC236}">
                <a16:creationId xmlns:a16="http://schemas.microsoft.com/office/drawing/2014/main" id="{CDAA7786-508A-661A-8DBB-5FAB3F344355}"/>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F863B8B1-179A-9390-87A2-291BFD6FC5BE}"/>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07DEB34B-65BB-044E-2008-909541DE7735}"/>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128C9FB6-0C82-6EC0-4F8D-0136891692A5}"/>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EF345355-8AB8-BE9D-2A20-8E3B4E003FB4}"/>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Tree>
    <p:extLst>
      <p:ext uri="{BB962C8B-B14F-4D97-AF65-F5344CB8AC3E}">
        <p14:creationId xmlns:p14="http://schemas.microsoft.com/office/powerpoint/2010/main" val="3609089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CA5A-0557-57BB-F5D7-5656976EFD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91E054-095E-FA62-C3E0-23A1842C4239}"/>
              </a:ext>
            </a:extLst>
          </p:cNvPr>
          <p:cNvSpPr>
            <a:spLocks noGrp="1"/>
          </p:cNvSpPr>
          <p:nvPr>
            <p:ph type="title"/>
          </p:nvPr>
        </p:nvSpPr>
        <p:spPr/>
        <p:txBody>
          <a:bodyPr/>
          <a:lstStyle/>
          <a:p>
            <a:r>
              <a:rPr lang="en-US"/>
              <a:t>AI Vision – Step 1 </a:t>
            </a:r>
          </a:p>
        </p:txBody>
      </p:sp>
    </p:spTree>
    <p:extLst>
      <p:ext uri="{BB962C8B-B14F-4D97-AF65-F5344CB8AC3E}">
        <p14:creationId xmlns:p14="http://schemas.microsoft.com/office/powerpoint/2010/main" val="616782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948AF-82D3-7522-03B6-E8AE141E1E6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3FA7C83-C8AD-CCF5-8108-D0948C92ECB9}"/>
              </a:ext>
            </a:extLst>
          </p:cNvPr>
          <p:cNvSpPr>
            <a:spLocks noGrp="1"/>
          </p:cNvSpPr>
          <p:nvPr>
            <p:ph type="title"/>
          </p:nvPr>
        </p:nvSpPr>
        <p:spPr/>
        <p:txBody>
          <a:bodyPr/>
          <a:lstStyle/>
          <a:p>
            <a:r>
              <a:rPr lang="en-US" sz="2800"/>
              <a:t>Vision Inspiration: Map Measures to Business Priorities</a:t>
            </a:r>
          </a:p>
        </p:txBody>
      </p:sp>
      <p:grpSp>
        <p:nvGrpSpPr>
          <p:cNvPr id="12" name="Group 11">
            <a:extLst>
              <a:ext uri="{FF2B5EF4-FFF2-40B4-BE49-F238E27FC236}">
                <a16:creationId xmlns:a16="http://schemas.microsoft.com/office/drawing/2014/main" id="{5DAB47C8-3331-FE38-796F-3108ED0A0FEA}"/>
              </a:ext>
            </a:extLst>
          </p:cNvPr>
          <p:cNvGrpSpPr/>
          <p:nvPr/>
        </p:nvGrpSpPr>
        <p:grpSpPr>
          <a:xfrm>
            <a:off x="455610" y="1405467"/>
            <a:ext cx="11277602" cy="4602141"/>
            <a:chOff x="455610" y="761455"/>
            <a:chExt cx="11277602" cy="5359594"/>
          </a:xfrm>
        </p:grpSpPr>
        <p:sp>
          <p:nvSpPr>
            <p:cNvPr id="5" name="Rectangle 4">
              <a:extLst>
                <a:ext uri="{FF2B5EF4-FFF2-40B4-BE49-F238E27FC236}">
                  <a16:creationId xmlns:a16="http://schemas.microsoft.com/office/drawing/2014/main" id="{863221B4-7761-B884-0FAF-D83FA20C3A43}"/>
                </a:ext>
              </a:extLst>
            </p:cNvPr>
            <p:cNvSpPr/>
            <p:nvPr/>
          </p:nvSpPr>
          <p:spPr>
            <a:xfrm>
              <a:off x="4250370" y="1737681"/>
              <a:ext cx="3688080" cy="1399032"/>
            </a:xfrm>
            <a:prstGeom prst="rect">
              <a:avLst/>
            </a:prstGeom>
            <a:noFill/>
            <a:ln w="38100">
              <a:solidFill>
                <a:srgbClr val="009AD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Become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market leader</a:t>
              </a:r>
            </a:p>
          </p:txBody>
        </p:sp>
        <p:sp>
          <p:nvSpPr>
            <p:cNvPr id="6" name="Rectangle 5">
              <a:extLst>
                <a:ext uri="{FF2B5EF4-FFF2-40B4-BE49-F238E27FC236}">
                  <a16:creationId xmlns:a16="http://schemas.microsoft.com/office/drawing/2014/main" id="{8C199702-C42C-919F-0E5A-C31715715403}"/>
                </a:ext>
              </a:extLst>
            </p:cNvPr>
            <p:cNvSpPr/>
            <p:nvPr/>
          </p:nvSpPr>
          <p:spPr>
            <a:xfrm>
              <a:off x="8045132" y="1737681"/>
              <a:ext cx="3688080" cy="1399032"/>
            </a:xfrm>
            <a:prstGeom prst="rect">
              <a:avLst/>
            </a:prstGeom>
            <a:noFill/>
            <a:ln w="38100">
              <a:solidFill>
                <a:srgbClr val="06C4B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Increase customer satisfaction and retention</a:t>
              </a:r>
            </a:p>
          </p:txBody>
        </p:sp>
        <p:sp>
          <p:nvSpPr>
            <p:cNvPr id="9" name="Rectangle 8">
              <a:extLst>
                <a:ext uri="{FF2B5EF4-FFF2-40B4-BE49-F238E27FC236}">
                  <a16:creationId xmlns:a16="http://schemas.microsoft.com/office/drawing/2014/main" id="{3F60E750-B216-F771-079F-3CCEB901D707}"/>
                </a:ext>
              </a:extLst>
            </p:cNvPr>
            <p:cNvSpPr/>
            <p:nvPr/>
          </p:nvSpPr>
          <p:spPr>
            <a:xfrm>
              <a:off x="455610" y="1737681"/>
              <a:ext cx="3688080" cy="1399032"/>
            </a:xfrm>
            <a:prstGeom prst="rect">
              <a:avLst/>
            </a:prstGeom>
            <a:noFill/>
            <a:ln w="3810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Reduce cost through process efficiency</a:t>
              </a:r>
            </a:p>
          </p:txBody>
        </p:sp>
        <p:sp>
          <p:nvSpPr>
            <p:cNvPr id="16" name="Rectangle 15">
              <a:extLst>
                <a:ext uri="{FF2B5EF4-FFF2-40B4-BE49-F238E27FC236}">
                  <a16:creationId xmlns:a16="http://schemas.microsoft.com/office/drawing/2014/main" id="{FC26F159-AF9C-72ED-2C08-F0E6BF52ACBA}"/>
                </a:ext>
              </a:extLst>
            </p:cNvPr>
            <p:cNvSpPr/>
            <p:nvPr/>
          </p:nvSpPr>
          <p:spPr>
            <a:xfrm>
              <a:off x="457199" y="761455"/>
              <a:ext cx="11276013" cy="90365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Black"/>
                  <a:ea typeface="+mn-ea"/>
                  <a:cs typeface="+mn-cs"/>
                </a:rPr>
                <a:t>Prioritize 1-3 key business outcomes sought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Black"/>
                  <a:ea typeface="+mn-ea"/>
                  <a:cs typeface="+mn-cs"/>
                </a:rPr>
                <a:t>by your executive leadership.</a:t>
              </a:r>
            </a:p>
          </p:txBody>
        </p:sp>
        <p:sp>
          <p:nvSpPr>
            <p:cNvPr id="2" name="Rectangle 1">
              <a:extLst>
                <a:ext uri="{FF2B5EF4-FFF2-40B4-BE49-F238E27FC236}">
                  <a16:creationId xmlns:a16="http://schemas.microsoft.com/office/drawing/2014/main" id="{2A47DC6B-1718-CCE3-4F82-E159F768B255}"/>
                </a:ext>
              </a:extLst>
            </p:cNvPr>
            <p:cNvSpPr/>
            <p:nvPr/>
          </p:nvSpPr>
          <p:spPr>
            <a:xfrm>
              <a:off x="4250370" y="3229849"/>
              <a:ext cx="3688080" cy="1399032"/>
            </a:xfrm>
            <a:prstGeom prst="rect">
              <a:avLst/>
            </a:prstGeom>
            <a:noFill/>
            <a:ln w="3810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leader</a:t>
              </a:r>
            </a:p>
          </p:txBody>
        </p:sp>
        <p:sp>
          <p:nvSpPr>
            <p:cNvPr id="3" name="Rectangle 2">
              <a:extLst>
                <a:ext uri="{FF2B5EF4-FFF2-40B4-BE49-F238E27FC236}">
                  <a16:creationId xmlns:a16="http://schemas.microsoft.com/office/drawing/2014/main" id="{8B3A3B80-2EB7-FFF2-F234-095AEC021563}"/>
                </a:ext>
              </a:extLst>
            </p:cNvPr>
            <p:cNvSpPr/>
            <p:nvPr/>
          </p:nvSpPr>
          <p:spPr>
            <a:xfrm>
              <a:off x="8045132" y="3229849"/>
              <a:ext cx="3688080" cy="1399032"/>
            </a:xfrm>
            <a:prstGeom prst="rect">
              <a:avLst/>
            </a:prstGeom>
            <a:noFill/>
            <a:ln w="38100">
              <a:solidFill>
                <a:srgbClr val="C0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Risk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reduction</a:t>
              </a:r>
            </a:p>
          </p:txBody>
        </p:sp>
        <p:sp>
          <p:nvSpPr>
            <p:cNvPr id="4" name="Rectangle 3">
              <a:extLst>
                <a:ext uri="{FF2B5EF4-FFF2-40B4-BE49-F238E27FC236}">
                  <a16:creationId xmlns:a16="http://schemas.microsoft.com/office/drawing/2014/main" id="{34E1F8C4-B565-C26B-019B-35BC9E906AF3}"/>
                </a:ext>
              </a:extLst>
            </p:cNvPr>
            <p:cNvSpPr/>
            <p:nvPr/>
          </p:nvSpPr>
          <p:spPr>
            <a:xfrm>
              <a:off x="455610" y="3229849"/>
              <a:ext cx="3688080" cy="1399032"/>
            </a:xfrm>
            <a:prstGeom prst="rect">
              <a:avLst/>
            </a:prstGeom>
            <a:noFill/>
            <a:ln w="38100">
              <a:solidFill>
                <a:srgbClr val="00B050"/>
              </a:solidFill>
            </a:ln>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Grow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revenue</a:t>
              </a:r>
            </a:p>
          </p:txBody>
        </p:sp>
        <p:sp>
          <p:nvSpPr>
            <p:cNvPr id="8" name="Rectangle 7">
              <a:extLst>
                <a:ext uri="{FF2B5EF4-FFF2-40B4-BE49-F238E27FC236}">
                  <a16:creationId xmlns:a16="http://schemas.microsoft.com/office/drawing/2014/main" id="{58BEEC53-62D4-FB8B-F5ED-385E5248713A}"/>
                </a:ext>
              </a:extLst>
            </p:cNvPr>
            <p:cNvSpPr/>
            <p:nvPr/>
          </p:nvSpPr>
          <p:spPr>
            <a:xfrm>
              <a:off x="4250370" y="4722017"/>
              <a:ext cx="3688080" cy="1399032"/>
            </a:xfrm>
            <a:prstGeom prst="rect">
              <a:avLst/>
            </a:prstGeom>
            <a:noFill/>
            <a:ln w="38100">
              <a:solidFill>
                <a:srgbClr val="7030A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Drive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innovation</a:t>
              </a:r>
            </a:p>
          </p:txBody>
        </p:sp>
        <p:sp>
          <p:nvSpPr>
            <p:cNvPr id="10" name="Rectangle 9">
              <a:extLst>
                <a:ext uri="{FF2B5EF4-FFF2-40B4-BE49-F238E27FC236}">
                  <a16:creationId xmlns:a16="http://schemas.microsoft.com/office/drawing/2014/main" id="{B9B80291-C3D2-D939-53AA-5081EC6800A9}"/>
                </a:ext>
              </a:extLst>
            </p:cNvPr>
            <p:cNvSpPr/>
            <p:nvPr/>
          </p:nvSpPr>
          <p:spPr>
            <a:xfrm>
              <a:off x="8045132" y="4722017"/>
              <a:ext cx="3688080" cy="1399032"/>
            </a:xfrm>
            <a:prstGeom prst="rect">
              <a:avLst/>
            </a:prstGeom>
            <a:noFill/>
            <a:ln w="38100">
              <a:solidFill>
                <a:srgbClr val="0052D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Improve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quality</a:t>
              </a:r>
            </a:p>
          </p:txBody>
        </p:sp>
        <p:sp>
          <p:nvSpPr>
            <p:cNvPr id="11" name="Rectangle 10">
              <a:extLst>
                <a:ext uri="{FF2B5EF4-FFF2-40B4-BE49-F238E27FC236}">
                  <a16:creationId xmlns:a16="http://schemas.microsoft.com/office/drawing/2014/main" id="{D9E0E6B6-030E-F8D5-4457-EE75510164D2}"/>
                </a:ext>
              </a:extLst>
            </p:cNvPr>
            <p:cNvSpPr/>
            <p:nvPr/>
          </p:nvSpPr>
          <p:spPr>
            <a:xfrm>
              <a:off x="455610" y="4722017"/>
              <a:ext cx="3688080" cy="1399032"/>
            </a:xfrm>
            <a:prstGeom prst="rect">
              <a:avLst/>
            </a:prstGeom>
            <a:noFill/>
            <a:ln w="38100">
              <a:solidFill>
                <a:srgbClr val="FF540A"/>
              </a:solidFill>
            </a:ln>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Improve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quality</a:t>
              </a:r>
            </a:p>
          </p:txBody>
        </p:sp>
      </p:grpSp>
    </p:spTree>
    <p:extLst>
      <p:ext uri="{BB962C8B-B14F-4D97-AF65-F5344CB8AC3E}">
        <p14:creationId xmlns:p14="http://schemas.microsoft.com/office/powerpoint/2010/main" val="2413091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50E76A-9507-3279-3288-B11676AA36C5}"/>
              </a:ext>
            </a:extLst>
          </p:cNvPr>
          <p:cNvSpPr>
            <a:spLocks noGrp="1"/>
          </p:cNvSpPr>
          <p:nvPr>
            <p:ph type="title"/>
          </p:nvPr>
        </p:nvSpPr>
        <p:spPr/>
        <p:txBody>
          <a:bodyPr/>
          <a:lstStyle/>
          <a:p>
            <a:r>
              <a:rPr lang="en-US"/>
              <a:t>Remember: AI is different because AI… </a:t>
            </a:r>
          </a:p>
        </p:txBody>
      </p:sp>
      <p:sp>
        <p:nvSpPr>
          <p:cNvPr id="4" name="Content Placeholder 3">
            <a:extLst>
              <a:ext uri="{FF2B5EF4-FFF2-40B4-BE49-F238E27FC236}">
                <a16:creationId xmlns:a16="http://schemas.microsoft.com/office/drawing/2014/main" id="{C85CD4B9-DB03-C276-1E0E-8C9412A069F6}"/>
              </a:ext>
            </a:extLst>
          </p:cNvPr>
          <p:cNvSpPr>
            <a:spLocks noGrp="1"/>
          </p:cNvSpPr>
          <p:nvPr>
            <p:ph idx="1"/>
          </p:nvPr>
        </p:nvSpPr>
        <p:spPr/>
        <p:txBody>
          <a:bodyPr/>
          <a:lstStyle/>
          <a:p>
            <a:r>
              <a:rPr lang="en-US" i="1"/>
              <a:t>evolves </a:t>
            </a:r>
            <a:r>
              <a:rPr lang="en-US"/>
              <a:t>extra fast</a:t>
            </a:r>
          </a:p>
          <a:p>
            <a:r>
              <a:rPr lang="en-US"/>
              <a:t>is </a:t>
            </a:r>
            <a:r>
              <a:rPr lang="en-US" i="1"/>
              <a:t>limited </a:t>
            </a:r>
            <a:r>
              <a:rPr lang="en-US"/>
              <a:t>by new laws and regulations </a:t>
            </a:r>
          </a:p>
          <a:p>
            <a:r>
              <a:rPr lang="en-US"/>
              <a:t>brings strong </a:t>
            </a:r>
            <a:r>
              <a:rPr lang="en-US" i="1"/>
              <a:t>feelings </a:t>
            </a:r>
            <a:r>
              <a:rPr lang="en-US"/>
              <a:t>from workers and consumers </a:t>
            </a:r>
          </a:p>
          <a:p>
            <a:r>
              <a:rPr lang="en-US" i="1"/>
              <a:t>disrupts </a:t>
            </a:r>
            <a:r>
              <a:rPr lang="en-US"/>
              <a:t>the ecosystems of business</a:t>
            </a:r>
          </a:p>
        </p:txBody>
      </p:sp>
    </p:spTree>
    <p:extLst>
      <p:ext uri="{BB962C8B-B14F-4D97-AF65-F5344CB8AC3E}">
        <p14:creationId xmlns:p14="http://schemas.microsoft.com/office/powerpoint/2010/main" val="896062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EF5-99AB-AB72-80AA-AA1DCF3BCFD8}"/>
              </a:ext>
            </a:extLst>
          </p:cNvPr>
          <p:cNvSpPr>
            <a:spLocks noGrp="1"/>
          </p:cNvSpPr>
          <p:nvPr>
            <p:ph type="title"/>
          </p:nvPr>
        </p:nvSpPr>
        <p:spPr/>
        <p:txBody>
          <a:bodyPr/>
          <a:lstStyle/>
          <a:p>
            <a:r>
              <a:rPr lang="en-US"/>
              <a:t>Step 1 of 7 - Start with an AI Vision to Align To </a:t>
            </a:r>
          </a:p>
        </p:txBody>
      </p:sp>
      <p:sp>
        <p:nvSpPr>
          <p:cNvPr id="3" name="Content Placeholder 2">
            <a:extLst>
              <a:ext uri="{FF2B5EF4-FFF2-40B4-BE49-F238E27FC236}">
                <a16:creationId xmlns:a16="http://schemas.microsoft.com/office/drawing/2014/main" id="{60BB0146-DD54-850A-8EA8-A75A165B5E2E}"/>
              </a:ext>
            </a:extLst>
          </p:cNvPr>
          <p:cNvSpPr>
            <a:spLocks noGrp="1"/>
          </p:cNvSpPr>
          <p:nvPr>
            <p:ph idx="1"/>
          </p:nvPr>
        </p:nvSpPr>
        <p:spPr/>
        <p:txBody>
          <a:bodyPr/>
          <a:lstStyle/>
          <a:p>
            <a:r>
              <a:rPr lang="en-US" dirty="0"/>
              <a:t>A template to experiment with: </a:t>
            </a:r>
          </a:p>
          <a:p>
            <a:pPr marL="338328" lvl="1" indent="0">
              <a:buNone/>
            </a:pPr>
            <a:r>
              <a:rPr lang="en-US" dirty="0"/>
              <a:t>We will use AI technology so that we can achieve better [Category of Business Outcomes that were previously impossible] in [key aspect(s) of operations] while [counterfactor to protect business].</a:t>
            </a:r>
          </a:p>
          <a:p>
            <a:pPr marL="0" indent="0">
              <a:spcBef>
                <a:spcPts val="2400"/>
              </a:spcBef>
              <a:buNone/>
            </a:pPr>
            <a:r>
              <a:rPr lang="en-US" dirty="0"/>
              <a:t>Examples: </a:t>
            </a:r>
          </a:p>
          <a:p>
            <a:r>
              <a:rPr lang="en-US" dirty="0"/>
              <a:t>“AI should be used to [increase the fulfillment a student experiences] through [personalization and digital experience during teaching] that nobody else can offer.”</a:t>
            </a:r>
          </a:p>
          <a:p>
            <a:r>
              <a:rPr lang="en-US" dirty="0"/>
              <a:t>“AI [during the inspection process] will [maximize the productivity of the system] while [minimizing quality loss].” </a:t>
            </a:r>
          </a:p>
          <a:p>
            <a:r>
              <a:rPr lang="en-US" dirty="0"/>
              <a:t>“AI will [reduce workers’ stressful or tedious work] and [improve our risk posture] but it will [not cost more than $X annually.]” </a:t>
            </a:r>
            <a:br>
              <a:rPr lang="en-US" dirty="0"/>
            </a:br>
            <a:endParaRPr lang="en-US" dirty="0"/>
          </a:p>
        </p:txBody>
      </p:sp>
    </p:spTree>
    <p:extLst>
      <p:ext uri="{BB962C8B-B14F-4D97-AF65-F5344CB8AC3E}">
        <p14:creationId xmlns:p14="http://schemas.microsoft.com/office/powerpoint/2010/main" val="1340117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99934-181B-4795-9F28-56B02569A7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5C817E-7128-C6D8-434B-A64806C67837}"/>
              </a:ext>
            </a:extLst>
          </p:cNvPr>
          <p:cNvSpPr>
            <a:spLocks noGrp="1"/>
          </p:cNvSpPr>
          <p:nvPr>
            <p:ph type="title"/>
          </p:nvPr>
        </p:nvSpPr>
        <p:spPr/>
        <p:txBody>
          <a:bodyPr/>
          <a:lstStyle/>
          <a:p>
            <a:r>
              <a:rPr lang="en-US"/>
              <a:t>Draft the Strategy </a:t>
            </a:r>
            <a:br>
              <a:rPr lang="en-US"/>
            </a:br>
            <a:r>
              <a:rPr lang="en-US"/>
              <a:t>(Step 2-7)</a:t>
            </a:r>
          </a:p>
        </p:txBody>
      </p:sp>
    </p:spTree>
    <p:extLst>
      <p:ext uri="{BB962C8B-B14F-4D97-AF65-F5344CB8AC3E}">
        <p14:creationId xmlns:p14="http://schemas.microsoft.com/office/powerpoint/2010/main" val="2615653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5F61-8222-B56D-3A99-8CC33F7D5A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28DDFE-469B-30C5-7E31-344ABCFA6EF4}"/>
              </a:ext>
            </a:extLst>
          </p:cNvPr>
          <p:cNvSpPr>
            <a:spLocks noGrp="1"/>
          </p:cNvSpPr>
          <p:nvPr>
            <p:ph type="title"/>
          </p:nvPr>
        </p:nvSpPr>
        <p:spPr>
          <a:xfrm>
            <a:off x="457200" y="361950"/>
            <a:ext cx="11274552" cy="451231"/>
          </a:xfrm>
        </p:spPr>
        <p:txBody>
          <a:bodyPr/>
          <a:lstStyle/>
          <a:p>
            <a:r>
              <a:rPr lang="en-US"/>
              <a:t>Step 2 of 7 - Value </a:t>
            </a:r>
          </a:p>
        </p:txBody>
      </p:sp>
      <p:sp>
        <p:nvSpPr>
          <p:cNvPr id="4" name="Content Placeholder 3">
            <a:extLst>
              <a:ext uri="{FF2B5EF4-FFF2-40B4-BE49-F238E27FC236}">
                <a16:creationId xmlns:a16="http://schemas.microsoft.com/office/drawing/2014/main" id="{C13AEBFC-5C75-A0BE-BBB5-13B518322A49}"/>
              </a:ext>
            </a:extLst>
          </p:cNvPr>
          <p:cNvSpPr>
            <a:spLocks noGrp="1"/>
          </p:cNvSpPr>
          <p:nvPr>
            <p:ph sz="half" idx="4294967295"/>
          </p:nvPr>
        </p:nvSpPr>
        <p:spPr>
          <a:xfrm>
            <a:off x="9079992" y="1666875"/>
            <a:ext cx="2651760" cy="3813175"/>
          </a:xfrm>
        </p:spPr>
        <p:txBody>
          <a:bodyPr anchor="ctr"/>
          <a:lstStyle/>
          <a:p>
            <a:pPr marL="0" indent="0">
              <a:buNone/>
            </a:pPr>
            <a:r>
              <a:rPr lang="en-US" sz="1400" b="1" dirty="0"/>
              <a:t>Customization Considerations:</a:t>
            </a:r>
          </a:p>
          <a:p>
            <a:pPr marL="0" indent="0">
              <a:buNone/>
            </a:pPr>
            <a:endParaRPr lang="en-US" sz="1400" dirty="0"/>
          </a:p>
          <a:p>
            <a:r>
              <a:rPr lang="en-US" sz="1400" dirty="0"/>
              <a:t>Choose up to two</a:t>
            </a:r>
          </a:p>
          <a:p>
            <a:r>
              <a:rPr lang="en-US" sz="1400" dirty="0"/>
              <a:t>Add a different one (other) </a:t>
            </a:r>
          </a:p>
          <a:p>
            <a:r>
              <a:rPr lang="en-US" sz="1400" dirty="0"/>
              <a:t>Suggest one is primary and another secondary </a:t>
            </a:r>
          </a:p>
          <a:p>
            <a:pPr marL="0" indent="0">
              <a:buNone/>
            </a:pPr>
            <a:endParaRPr lang="en-US" sz="1400" dirty="0"/>
          </a:p>
        </p:txBody>
      </p:sp>
      <p:graphicFrame>
        <p:nvGraphicFramePr>
          <p:cNvPr id="5" name="Table 4">
            <a:extLst>
              <a:ext uri="{FF2B5EF4-FFF2-40B4-BE49-F238E27FC236}">
                <a16:creationId xmlns:a16="http://schemas.microsoft.com/office/drawing/2014/main" id="{D4492E16-5B9B-9F77-B16F-B0D4EA1ABEF3}"/>
              </a:ext>
            </a:extLst>
          </p:cNvPr>
          <p:cNvGraphicFramePr>
            <a:graphicFrameLocks noGrp="1"/>
          </p:cNvGraphicFramePr>
          <p:nvPr>
            <p:extLst>
              <p:ext uri="{D42A27DB-BD31-4B8C-83A1-F6EECF244321}">
                <p14:modId xmlns:p14="http://schemas.microsoft.com/office/powerpoint/2010/main" val="3976486226"/>
              </p:ext>
            </p:extLst>
          </p:nvPr>
        </p:nvGraphicFramePr>
        <p:xfrm>
          <a:off x="457200" y="1138180"/>
          <a:ext cx="8188646" cy="4853660"/>
        </p:xfrm>
        <a:graphic>
          <a:graphicData uri="http://schemas.openxmlformats.org/drawingml/2006/table">
            <a:tbl>
              <a:tblPr firstRow="1" bandRow="1">
                <a:tableStyleId>{6E25E649-3F16-4E02-A733-19D2CDBF48F0}</a:tableStyleId>
              </a:tblPr>
              <a:tblGrid>
                <a:gridCol w="4094323">
                  <a:extLst>
                    <a:ext uri="{9D8B030D-6E8A-4147-A177-3AD203B41FA5}">
                      <a16:colId xmlns:a16="http://schemas.microsoft.com/office/drawing/2014/main" val="27675903"/>
                    </a:ext>
                  </a:extLst>
                </a:gridCol>
                <a:gridCol w="4094323">
                  <a:extLst>
                    <a:ext uri="{9D8B030D-6E8A-4147-A177-3AD203B41FA5}">
                      <a16:colId xmlns:a16="http://schemas.microsoft.com/office/drawing/2014/main" val="3718244632"/>
                    </a:ext>
                  </a:extLst>
                </a:gridCol>
              </a:tblGrid>
              <a:tr h="369430">
                <a:tc gridSpan="2">
                  <a:txBody>
                    <a:bodyPr/>
                    <a:lstStyle/>
                    <a:p>
                      <a:pPr>
                        <a:lnSpc>
                          <a:spcPct val="90000"/>
                        </a:lnSpc>
                      </a:pPr>
                      <a:r>
                        <a:rPr lang="en-US"/>
                        <a:t>Choose how AI must deliver value to make your strategy a success in the eyes of your leadership </a:t>
                      </a:r>
                    </a:p>
                  </a:txBody>
                  <a:tcPr>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216711198"/>
                  </a:ext>
                </a:extLst>
              </a:tr>
              <a:tr h="369430">
                <a:tc>
                  <a:txBody>
                    <a:bodyPr/>
                    <a:lstStyle/>
                    <a:p>
                      <a:pPr>
                        <a:lnSpc>
                          <a:spcPct val="90000"/>
                        </a:lnSpc>
                      </a:pPr>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nSpc>
                          <a:spcPct val="90000"/>
                        </a:lnSpc>
                      </a:pPr>
                      <a:r>
                        <a:rPr lang="en-US" b="1" dirty="0"/>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85041453"/>
                  </a:ext>
                </a:extLst>
              </a:tr>
              <a:tr h="685800">
                <a:tc>
                  <a:txBody>
                    <a:bodyPr/>
                    <a:lstStyle/>
                    <a:p>
                      <a:pPr>
                        <a:lnSpc>
                          <a:spcPct val="90000"/>
                        </a:lnSpc>
                      </a:pPr>
                      <a:r>
                        <a:rPr lang="en-US" b="1" dirty="0"/>
                        <a:t>Cut costs: </a:t>
                      </a:r>
                    </a:p>
                    <a:p>
                      <a:pPr>
                        <a:lnSpc>
                          <a:spcPct val="90000"/>
                        </a:lnSpc>
                      </a:pPr>
                      <a:r>
                        <a:rPr lang="en-US" b="0" dirty="0"/>
                        <a:t>Less spending, less hours of people work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Forces questions about whether savings are recoverable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14790277"/>
                  </a:ext>
                </a:extLst>
              </a:tr>
              <a:tr h="685800">
                <a:tc>
                  <a:txBody>
                    <a:bodyPr/>
                    <a:lstStyle/>
                    <a:p>
                      <a:pPr>
                        <a:lnSpc>
                          <a:spcPct val="90000"/>
                        </a:lnSpc>
                      </a:pPr>
                      <a:r>
                        <a:rPr lang="en-US" b="1" dirty="0"/>
                        <a:t>Grow revenue: </a:t>
                      </a:r>
                    </a:p>
                    <a:p>
                      <a:pPr>
                        <a:lnSpc>
                          <a:spcPct val="90000"/>
                        </a:lnSpc>
                      </a:pPr>
                      <a:r>
                        <a:rPr lang="en-US" b="0" dirty="0"/>
                        <a:t>Sell more, get new customers, launch new revenue streams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Growth industries, sets up cost vs. benefit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70530245"/>
                  </a:ext>
                </a:extLst>
              </a:tr>
              <a:tr h="685800">
                <a:tc>
                  <a:txBody>
                    <a:bodyPr/>
                    <a:lstStyle/>
                    <a:p>
                      <a:pPr>
                        <a:lnSpc>
                          <a:spcPct val="90000"/>
                        </a:lnSpc>
                      </a:pPr>
                      <a:r>
                        <a:rPr lang="en-US" b="1" dirty="0"/>
                        <a:t>Optimize: </a:t>
                      </a:r>
                    </a:p>
                    <a:p>
                      <a:pPr>
                        <a:lnSpc>
                          <a:spcPct val="90000"/>
                        </a:lnSpc>
                      </a:pPr>
                      <a:r>
                        <a:rPr lang="en-US" b="0" dirty="0"/>
                        <a:t>Better speed, quality, reliability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Requires experimental approaches to compare results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77440558"/>
                  </a:ext>
                </a:extLst>
              </a:tr>
              <a:tr h="685800">
                <a:tc>
                  <a:txBody>
                    <a:bodyPr/>
                    <a:lstStyle/>
                    <a:p>
                      <a:pPr>
                        <a:lnSpc>
                          <a:spcPct val="90000"/>
                        </a:lnSpc>
                      </a:pPr>
                      <a:r>
                        <a:rPr lang="en-US" b="1" dirty="0"/>
                        <a:t>Reduce risk: </a:t>
                      </a:r>
                    </a:p>
                    <a:p>
                      <a:pPr>
                        <a:lnSpc>
                          <a:spcPct val="90000"/>
                        </a:lnSpc>
                      </a:pPr>
                      <a:r>
                        <a:rPr lang="en-US" b="0" dirty="0"/>
                        <a:t>Better safety, more compliance, threat detection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Measuring impact extremely difficult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3118702"/>
                  </a:ext>
                </a:extLst>
              </a:tr>
              <a:tr h="685800">
                <a:tc>
                  <a:txBody>
                    <a:bodyPr/>
                    <a:lstStyle/>
                    <a:p>
                      <a:pPr>
                        <a:lnSpc>
                          <a:spcPct val="90000"/>
                        </a:lnSpc>
                      </a:pPr>
                      <a:r>
                        <a:rPr lang="en-US" b="1" dirty="0"/>
                        <a:t>Reinvent us: </a:t>
                      </a:r>
                    </a:p>
                    <a:p>
                      <a:pPr>
                        <a:lnSpc>
                          <a:spcPct val="90000"/>
                        </a:lnSpc>
                      </a:pPr>
                      <a:r>
                        <a:rPr lang="en-US" b="0" dirty="0"/>
                        <a:t>Change the industry to our betterment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Long-term projects, results are absolute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12193694"/>
                  </a:ext>
                </a:extLst>
              </a:tr>
              <a:tr h="685800">
                <a:tc>
                  <a:txBody>
                    <a:bodyPr/>
                    <a:lstStyle/>
                    <a:p>
                      <a:pPr>
                        <a:lnSpc>
                          <a:spcPct val="90000"/>
                        </a:lnSpc>
                      </a:pPr>
                      <a:r>
                        <a:rPr lang="en-US" b="0" dirty="0"/>
                        <a:t>Other</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May require education of types of value to executives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89218161"/>
                  </a:ext>
                </a:extLst>
              </a:tr>
            </a:tbl>
          </a:graphicData>
        </a:graphic>
      </p:graphicFrame>
      <p:cxnSp>
        <p:nvCxnSpPr>
          <p:cNvPr id="9" name="Straight Connector 8">
            <a:extLst>
              <a:ext uri="{FF2B5EF4-FFF2-40B4-BE49-F238E27FC236}">
                <a16:creationId xmlns:a16="http://schemas.microsoft.com/office/drawing/2014/main" id="{5C61394B-D29F-DFD0-AA70-5F289328DD7C}"/>
              </a:ext>
            </a:extLst>
          </p:cNvPr>
          <p:cNvCxnSpPr>
            <a:cxnSpLocks/>
          </p:cNvCxnSpPr>
          <p:nvPr/>
        </p:nvCxnSpPr>
        <p:spPr>
          <a:xfrm>
            <a:off x="8862919" y="1138180"/>
            <a:ext cx="0" cy="4855464"/>
          </a:xfrm>
          <a:prstGeom prst="line">
            <a:avLst/>
          </a:prstGeom>
          <a:noFill/>
          <a:ln w="19050" cap="flat" cmpd="sng">
            <a:solidFill>
              <a:srgbClr val="707996"/>
            </a:solidFill>
            <a:prstDash val="solid"/>
            <a:round/>
            <a:headEnd type="none" w="lg" len="med"/>
            <a:tailEnd type="none" w="lg" len="med"/>
          </a:ln>
        </p:spPr>
      </p:cxnSp>
    </p:spTree>
    <p:extLst>
      <p:ext uri="{BB962C8B-B14F-4D97-AF65-F5344CB8AC3E}">
        <p14:creationId xmlns:p14="http://schemas.microsoft.com/office/powerpoint/2010/main" val="1966697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5DDC9-17F0-1D7A-ACC8-E0EC574F40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B01687-C4AB-4674-F2F5-F590F6A228F4}"/>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907774F3-2EDF-781F-5247-4F00BCC5C8D0}"/>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4F429B4A-FAD7-3E62-507A-1866BB0B64B3}"/>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83659D89-3843-5B06-748E-8B21DF99810A}"/>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51914F82-B8A0-87D9-60D7-557E563E7425}"/>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2BA7AD8E-9658-1A38-22F7-515CE2B2D1E3}"/>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5C6B87AB-7EEA-D3E1-8C82-8CF2DDB6E08A}"/>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7E462598-5073-3AF6-F7E0-3B414266CC8D}"/>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C6D370F2-EB15-4330-1907-5B3DFA572777}"/>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1319D07D-B40A-F669-2C13-263481A2F0F5}"/>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3E299A16-41F6-8F90-0701-350A53A9CD70}"/>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9547A015-BBC8-7CFA-39D0-3A9F38AEAC6F}"/>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07F772DD-BECF-556D-9010-C3312A788E1C}"/>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2" name="Rectangle 31">
            <a:extLst>
              <a:ext uri="{FF2B5EF4-FFF2-40B4-BE49-F238E27FC236}">
                <a16:creationId xmlns:a16="http://schemas.microsoft.com/office/drawing/2014/main" id="{198C08A6-D0E0-45D0-05B9-CDA3893EE13E}"/>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CDAE6867-BAFD-814A-A685-8E161D3471EF}"/>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4" name="TextBox 33">
            <a:extLst>
              <a:ext uri="{FF2B5EF4-FFF2-40B4-BE49-F238E27FC236}">
                <a16:creationId xmlns:a16="http://schemas.microsoft.com/office/drawing/2014/main" id="{AC070DF7-53CE-9A22-45C1-41B906455BE0}"/>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98994893-1125-F3C4-4E58-0FA3A57AF899}"/>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36" name="TextBox 35">
            <a:extLst>
              <a:ext uri="{FF2B5EF4-FFF2-40B4-BE49-F238E27FC236}">
                <a16:creationId xmlns:a16="http://schemas.microsoft.com/office/drawing/2014/main" id="{064682FF-4E48-BBB4-644C-138812B70641}"/>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7" name="Rectangle 36">
            <a:extLst>
              <a:ext uri="{FF2B5EF4-FFF2-40B4-BE49-F238E27FC236}">
                <a16:creationId xmlns:a16="http://schemas.microsoft.com/office/drawing/2014/main" id="{E7290608-40AE-6B87-43C8-EEBE362B7E4E}"/>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14A84385-C9D2-2291-D013-AF1EE581D1D9}"/>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9" name="TextBox 38">
            <a:extLst>
              <a:ext uri="{FF2B5EF4-FFF2-40B4-BE49-F238E27FC236}">
                <a16:creationId xmlns:a16="http://schemas.microsoft.com/office/drawing/2014/main" id="{5104B6B6-13F1-DB12-0112-512DAC8A2467}"/>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0" name="TextBox 39">
            <a:extLst>
              <a:ext uri="{FF2B5EF4-FFF2-40B4-BE49-F238E27FC236}">
                <a16:creationId xmlns:a16="http://schemas.microsoft.com/office/drawing/2014/main" id="{20815D83-4967-1F23-AA4A-E18BF8571848}"/>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1" name="TextBox 40">
            <a:extLst>
              <a:ext uri="{FF2B5EF4-FFF2-40B4-BE49-F238E27FC236}">
                <a16:creationId xmlns:a16="http://schemas.microsoft.com/office/drawing/2014/main" id="{014F98A9-934B-F3BE-B23D-0A3510082491}"/>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47AF9C54-CE5C-6765-7E9C-E9DC33742E5C}"/>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12B7A33E-426B-7AC1-DD08-E0DF7A039246}"/>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F77CADBD-592B-7BC2-9C08-56C8AE7AA594}"/>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6" name="TextBox 45">
            <a:extLst>
              <a:ext uri="{FF2B5EF4-FFF2-40B4-BE49-F238E27FC236}">
                <a16:creationId xmlns:a16="http://schemas.microsoft.com/office/drawing/2014/main" id="{D8B47B42-046F-A3B7-BA7A-6BF01F47347B}"/>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7" name="Rectangle 46">
            <a:extLst>
              <a:ext uri="{FF2B5EF4-FFF2-40B4-BE49-F238E27FC236}">
                <a16:creationId xmlns:a16="http://schemas.microsoft.com/office/drawing/2014/main" id="{361C7F82-EC44-CD1B-9938-71F9FF954971}"/>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FB68B63C-E25C-CAAE-CDC4-BA0B3BDD4A4F}"/>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9" name="TextBox 48">
            <a:extLst>
              <a:ext uri="{FF2B5EF4-FFF2-40B4-BE49-F238E27FC236}">
                <a16:creationId xmlns:a16="http://schemas.microsoft.com/office/drawing/2014/main" id="{7A78DB65-5D1C-AAC9-C932-8D65197B8888}"/>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9FBF0CA0-87E2-01F3-6427-282AF7E87ED6}"/>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51" name="TextBox 50">
            <a:extLst>
              <a:ext uri="{FF2B5EF4-FFF2-40B4-BE49-F238E27FC236}">
                <a16:creationId xmlns:a16="http://schemas.microsoft.com/office/drawing/2014/main" id="{600C442E-478F-5DD7-122D-A8001E4585B9}"/>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3D8EA607-9780-E68A-7619-D863A570AD43}"/>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B5610A19-047B-5488-9EFB-D71E3ABD753A}"/>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04FB6FEA-FFA8-4BA4-4F58-28E094EBBC56}"/>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B6BE5CFF-7ED0-C13A-B38F-57C86B254055}"/>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2" name="TextBox 1">
            <a:extLst>
              <a:ext uri="{FF2B5EF4-FFF2-40B4-BE49-F238E27FC236}">
                <a16:creationId xmlns:a16="http://schemas.microsoft.com/office/drawing/2014/main" id="{A6E40B54-230D-D8D9-FA54-E42E816403C4}"/>
              </a:ext>
            </a:extLst>
          </p:cNvPr>
          <p:cNvSpPr txBox="1">
            <a:spLocks/>
          </p:cNvSpPr>
          <p:nvPr/>
        </p:nvSpPr>
        <p:spPr>
          <a:xfrm>
            <a:off x="1041945" y="3048952"/>
            <a:ext cx="4051329" cy="2813965"/>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4" name="TextBox 3">
            <a:extLst>
              <a:ext uri="{FF2B5EF4-FFF2-40B4-BE49-F238E27FC236}">
                <a16:creationId xmlns:a16="http://schemas.microsoft.com/office/drawing/2014/main" id="{678D32A1-3659-E84B-742F-0CB189B2DB4E}"/>
              </a:ext>
            </a:extLst>
          </p:cNvPr>
          <p:cNvSpPr txBox="1">
            <a:spLocks/>
          </p:cNvSpPr>
          <p:nvPr/>
        </p:nvSpPr>
        <p:spPr>
          <a:xfrm>
            <a:off x="6986384" y="1397223"/>
            <a:ext cx="4051329" cy="4465694"/>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6" name="TextBox 5">
            <a:extLst>
              <a:ext uri="{FF2B5EF4-FFF2-40B4-BE49-F238E27FC236}">
                <a16:creationId xmlns:a16="http://schemas.microsoft.com/office/drawing/2014/main" id="{EFAA0655-C6C3-EF4C-568C-45D05653BA2B}"/>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Rectangle 7">
            <a:extLst>
              <a:ext uri="{FF2B5EF4-FFF2-40B4-BE49-F238E27FC236}">
                <a16:creationId xmlns:a16="http://schemas.microsoft.com/office/drawing/2014/main" id="{273F85BE-62EB-2B56-02CA-8254450372C7}"/>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9" name="TextBox 8">
            <a:extLst>
              <a:ext uri="{FF2B5EF4-FFF2-40B4-BE49-F238E27FC236}">
                <a16:creationId xmlns:a16="http://schemas.microsoft.com/office/drawing/2014/main" id="{0355E7DA-6B07-C185-B9BC-BDDFC1E6FD08}"/>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399486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A72E-91DD-FCE7-11C0-E12C1ECB4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67227-C9B9-B5C3-647A-D77E5385F1CE}"/>
              </a:ext>
            </a:extLst>
          </p:cNvPr>
          <p:cNvSpPr>
            <a:spLocks noGrp="1"/>
          </p:cNvSpPr>
          <p:nvPr>
            <p:ph type="title"/>
          </p:nvPr>
        </p:nvSpPr>
        <p:spPr>
          <a:xfrm>
            <a:off x="457200" y="361950"/>
            <a:ext cx="11274552" cy="451231"/>
          </a:xfrm>
        </p:spPr>
        <p:txBody>
          <a:bodyPr/>
          <a:lstStyle/>
          <a:p>
            <a:r>
              <a:rPr lang="en-US"/>
              <a:t>Step 3 of 7 - People and Culture </a:t>
            </a:r>
          </a:p>
        </p:txBody>
      </p:sp>
      <p:graphicFrame>
        <p:nvGraphicFramePr>
          <p:cNvPr id="4" name="Table 3">
            <a:extLst>
              <a:ext uri="{FF2B5EF4-FFF2-40B4-BE49-F238E27FC236}">
                <a16:creationId xmlns:a16="http://schemas.microsoft.com/office/drawing/2014/main" id="{8F21FA0E-CDC8-6AAD-9522-1A9C85FD02E2}"/>
              </a:ext>
            </a:extLst>
          </p:cNvPr>
          <p:cNvGraphicFramePr>
            <a:graphicFrameLocks noGrp="1"/>
          </p:cNvGraphicFramePr>
          <p:nvPr>
            <p:extLst>
              <p:ext uri="{D42A27DB-BD31-4B8C-83A1-F6EECF244321}">
                <p14:modId xmlns:p14="http://schemas.microsoft.com/office/powerpoint/2010/main" val="4104675646"/>
              </p:ext>
            </p:extLst>
          </p:nvPr>
        </p:nvGraphicFramePr>
        <p:xfrm>
          <a:off x="457200" y="1156178"/>
          <a:ext cx="8201820" cy="4022451"/>
        </p:xfrm>
        <a:graphic>
          <a:graphicData uri="http://schemas.openxmlformats.org/drawingml/2006/table">
            <a:tbl>
              <a:tblPr firstRow="1" bandRow="1">
                <a:tableStyleId>{6E25E649-3F16-4E02-A733-19D2CDBF48F0}</a:tableStyleId>
              </a:tblPr>
              <a:tblGrid>
                <a:gridCol w="4100910">
                  <a:extLst>
                    <a:ext uri="{9D8B030D-6E8A-4147-A177-3AD203B41FA5}">
                      <a16:colId xmlns:a16="http://schemas.microsoft.com/office/drawing/2014/main" val="3111271805"/>
                    </a:ext>
                  </a:extLst>
                </a:gridCol>
                <a:gridCol w="4100910">
                  <a:extLst>
                    <a:ext uri="{9D8B030D-6E8A-4147-A177-3AD203B41FA5}">
                      <a16:colId xmlns:a16="http://schemas.microsoft.com/office/drawing/2014/main" val="2663907645"/>
                    </a:ext>
                  </a:extLst>
                </a:gridCol>
              </a:tblGrid>
              <a:tr h="405922">
                <a:tc gridSpan="2">
                  <a:txBody>
                    <a:bodyPr/>
                    <a:lstStyle/>
                    <a:p>
                      <a:r>
                        <a:rPr lang="en-US"/>
                        <a:t>How would you describe the best kind of relationship between people and AI for your organization?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02592125"/>
                  </a:ext>
                </a:extLst>
              </a:tr>
              <a:tr h="339929">
                <a:tc>
                  <a:txBody>
                    <a:bodyPr/>
                    <a:lstStyle/>
                    <a:p>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1142157844"/>
                  </a:ext>
                </a:extLst>
              </a:tr>
              <a:tr h="777240">
                <a:tc>
                  <a:txBody>
                    <a:bodyPr/>
                    <a:lstStyle/>
                    <a:p>
                      <a:r>
                        <a:rPr lang="en-US" sz="1400" b="1"/>
                        <a:t>Empowerment: </a:t>
                      </a:r>
                      <a:r>
                        <a:rPr lang="en-US" sz="1400"/>
                        <a:t>We provide tools and training. Workers and managers have the curiosity and initiative</a:t>
                      </a:r>
                      <a:endParaRPr 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Professional environments where tenured workers use knowledge and expertise to produce digital outcomes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46935952"/>
                  </a:ext>
                </a:extLst>
              </a:tr>
              <a:tr h="777240">
                <a:tc>
                  <a:txBody>
                    <a:bodyPr/>
                    <a:lstStyle/>
                    <a:p>
                      <a:r>
                        <a:rPr lang="en-US" sz="1400" b="1"/>
                        <a:t>Augmentation: </a:t>
                      </a:r>
                      <a:r>
                        <a:rPr lang="en-US" sz="1400"/>
                        <a:t>AI is only an assistant to handle tedious work</a:t>
                      </a:r>
                      <a:endParaRPr 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Workers yearn to be rid of low-value paperwork to apply themselves to people benefits and original thinking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3435276"/>
                  </a:ext>
                </a:extLst>
              </a:tr>
              <a:tr h="777240">
                <a:tc>
                  <a:txBody>
                    <a:bodyPr/>
                    <a:lstStyle/>
                    <a:p>
                      <a:r>
                        <a:rPr lang="en-US" sz="1400" b="1"/>
                        <a:t>Embedding: </a:t>
                      </a:r>
                      <a:r>
                        <a:rPr lang="en-US" sz="1400" b="0"/>
                        <a:t>We incorporate AI directly into our workflows and software so that the organization benefits</a:t>
                      </a:r>
                    </a:p>
                    <a:p>
                      <a:endParaRPr 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Worker motivation for usage is low, tenure is brief and training is undesirable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82011072"/>
                  </a:ext>
                </a:extLst>
              </a:tr>
              <a:tr h="777240">
                <a:tc>
                  <a:txBody>
                    <a:bodyPr/>
                    <a:lstStyle/>
                    <a:p>
                      <a:r>
                        <a:rPr lang="en-US" sz="1400" b="1"/>
                        <a:t>Automation: </a:t>
                      </a:r>
                      <a:r>
                        <a:rPr lang="en-US" sz="1400"/>
                        <a:t>AI performs tasks autonomously to reduce headcount or avoid future hiring</a:t>
                      </a:r>
                      <a:endParaRPr 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Organization’s work is better performed by AI or output quality is low pressure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37429890"/>
                  </a:ext>
                </a:extLst>
              </a:tr>
            </a:tbl>
          </a:graphicData>
        </a:graphic>
      </p:graphicFrame>
      <p:sp>
        <p:nvSpPr>
          <p:cNvPr id="7" name="Content Placeholder 3">
            <a:extLst>
              <a:ext uri="{FF2B5EF4-FFF2-40B4-BE49-F238E27FC236}">
                <a16:creationId xmlns:a16="http://schemas.microsoft.com/office/drawing/2014/main" id="{C5E6E4B1-9A74-4010-722F-08A257885C50}"/>
              </a:ext>
            </a:extLst>
          </p:cNvPr>
          <p:cNvSpPr txBox="1">
            <a:spLocks/>
          </p:cNvSpPr>
          <p:nvPr/>
        </p:nvSpPr>
        <p:spPr>
          <a:xfrm>
            <a:off x="8904257" y="1527853"/>
            <a:ext cx="2827495" cy="3812345"/>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Gartner Sans"/>
                <a:ea typeface="+mn-ea"/>
                <a:cs typeface="+mn-cs"/>
              </a:rPr>
              <a:t>Customization Considerations:</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Start with 1 but aim to add more</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We choose them departmentally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We select multiple, depending on process (we prioritize processes we want to change – or not)  </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p:txBody>
      </p:sp>
      <p:cxnSp>
        <p:nvCxnSpPr>
          <p:cNvPr id="8" name="Straight Connector 7">
            <a:extLst>
              <a:ext uri="{FF2B5EF4-FFF2-40B4-BE49-F238E27FC236}">
                <a16:creationId xmlns:a16="http://schemas.microsoft.com/office/drawing/2014/main" id="{FB714F39-6DD7-020C-27F0-CF4C71D0D089}"/>
              </a:ext>
            </a:extLst>
          </p:cNvPr>
          <p:cNvCxnSpPr/>
          <p:nvPr/>
        </p:nvCxnSpPr>
        <p:spPr>
          <a:xfrm>
            <a:off x="8781638" y="1138180"/>
            <a:ext cx="0" cy="4133088"/>
          </a:xfrm>
          <a:prstGeom prst="line">
            <a:avLst/>
          </a:prstGeom>
          <a:noFill/>
          <a:ln w="19050" cap="flat" cmpd="sng">
            <a:solidFill>
              <a:srgbClr val="707996"/>
            </a:solidFill>
            <a:prstDash val="solid"/>
            <a:round/>
            <a:headEnd type="none" w="lg" len="med"/>
            <a:tailEnd type="none" w="lg" len="med"/>
          </a:ln>
        </p:spPr>
      </p:cxnSp>
    </p:spTree>
    <p:extLst>
      <p:ext uri="{BB962C8B-B14F-4D97-AF65-F5344CB8AC3E}">
        <p14:creationId xmlns:p14="http://schemas.microsoft.com/office/powerpoint/2010/main" val="4015001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269B8-6710-873E-FD92-C501821126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99AC6D-10AE-9E7C-35BE-CF992DC846F2}"/>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AF0134C9-E05D-90AE-4BF0-F349AB09F4FD}"/>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2152046B-189A-5ED8-493D-4CC7C51E2B90}"/>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B807A44E-129D-B5D3-119A-B5BB975D0D57}"/>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83ED82B9-47DC-15E5-C06E-BFE6D962585A}"/>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EA1A4563-798D-8F90-00AB-C4234F4BC4D1}"/>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F5E095FD-CB5C-7064-411C-7A13EDF284A7}"/>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DEE11243-C757-48F7-16DD-5732E6596FE3}"/>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ED66214F-0214-0E6F-E092-EB79B3103B7A}"/>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00C0804A-D7B2-11A4-0DFD-658849C03838}"/>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CF7D8ADF-7DCD-BAA4-09F0-983B83F45DCA}"/>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7F02A28A-861E-4C78-8D6F-46A856BA03F7}"/>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23AF390F-4AB3-154D-F379-28895D48916B}"/>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Empowerment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Augmentation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Embedding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Automation </a:t>
            </a:r>
          </a:p>
        </p:txBody>
      </p:sp>
      <p:sp>
        <p:nvSpPr>
          <p:cNvPr id="32" name="Rectangle 31">
            <a:extLst>
              <a:ext uri="{FF2B5EF4-FFF2-40B4-BE49-F238E27FC236}">
                <a16:creationId xmlns:a16="http://schemas.microsoft.com/office/drawing/2014/main" id="{8C13C0AD-4993-A817-68FF-5099561AE398}"/>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C332AC82-A4A7-3E0F-80B9-E0DA2023C8B4}"/>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Where to start and where to evolve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Which approach for which departments</a:t>
            </a:r>
          </a:p>
        </p:txBody>
      </p:sp>
      <p:sp>
        <p:nvSpPr>
          <p:cNvPr id="34" name="TextBox 33">
            <a:extLst>
              <a:ext uri="{FF2B5EF4-FFF2-40B4-BE49-F238E27FC236}">
                <a16:creationId xmlns:a16="http://schemas.microsoft.com/office/drawing/2014/main" id="{8A54CB17-8C53-F256-4AC4-ABD82348D13B}"/>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3D2A3394-2DE6-27F8-B8C4-8B4876E8503A}"/>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6" name="TextBox 35">
            <a:extLst>
              <a:ext uri="{FF2B5EF4-FFF2-40B4-BE49-F238E27FC236}">
                <a16:creationId xmlns:a16="http://schemas.microsoft.com/office/drawing/2014/main" id="{EFBB0B8F-6D84-A6C5-BC15-4DD480C8D454}"/>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7" name="Rectangle 36">
            <a:extLst>
              <a:ext uri="{FF2B5EF4-FFF2-40B4-BE49-F238E27FC236}">
                <a16:creationId xmlns:a16="http://schemas.microsoft.com/office/drawing/2014/main" id="{D3D4C198-BE06-8561-6946-9A810AF5DFDC}"/>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4550F3E9-177F-9E65-2771-BBF78E4DEC9E}"/>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39" name="TextBox 38">
            <a:extLst>
              <a:ext uri="{FF2B5EF4-FFF2-40B4-BE49-F238E27FC236}">
                <a16:creationId xmlns:a16="http://schemas.microsoft.com/office/drawing/2014/main" id="{A298F5EF-BDD3-51E6-116A-AF9F77E4364F}"/>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0" name="TextBox 39">
            <a:extLst>
              <a:ext uri="{FF2B5EF4-FFF2-40B4-BE49-F238E27FC236}">
                <a16:creationId xmlns:a16="http://schemas.microsoft.com/office/drawing/2014/main" id="{39EBDA50-E364-56A9-522C-6F6C709673A5}"/>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1" name="TextBox 40">
            <a:extLst>
              <a:ext uri="{FF2B5EF4-FFF2-40B4-BE49-F238E27FC236}">
                <a16:creationId xmlns:a16="http://schemas.microsoft.com/office/drawing/2014/main" id="{FFDD7B27-B301-015E-A86C-090D90F52116}"/>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0E0B1FCC-ADB2-95E2-E1CE-2C6A3CBB6AFE}"/>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EC7661CB-0E3F-2548-7FD2-A7357681C5C8}"/>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B6427F38-B5E4-D7F8-648E-1BFFB9B1335F}"/>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6" name="TextBox 45">
            <a:extLst>
              <a:ext uri="{FF2B5EF4-FFF2-40B4-BE49-F238E27FC236}">
                <a16:creationId xmlns:a16="http://schemas.microsoft.com/office/drawing/2014/main" id="{5615166B-0DCF-5180-196D-877441CB5F0D}"/>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7" name="Rectangle 46">
            <a:extLst>
              <a:ext uri="{FF2B5EF4-FFF2-40B4-BE49-F238E27FC236}">
                <a16:creationId xmlns:a16="http://schemas.microsoft.com/office/drawing/2014/main" id="{AB4B4E19-0BA3-028B-403F-00B68743128C}"/>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99662758-93F4-B779-0EA9-136C4582709C}"/>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9" name="TextBox 48">
            <a:extLst>
              <a:ext uri="{FF2B5EF4-FFF2-40B4-BE49-F238E27FC236}">
                <a16:creationId xmlns:a16="http://schemas.microsoft.com/office/drawing/2014/main" id="{AD28BEA6-8EF5-D69D-CB8B-95129981DE47}"/>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8A04F675-B8E4-10D8-7338-3AE6F1F7D625}"/>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51" name="TextBox 50">
            <a:extLst>
              <a:ext uri="{FF2B5EF4-FFF2-40B4-BE49-F238E27FC236}">
                <a16:creationId xmlns:a16="http://schemas.microsoft.com/office/drawing/2014/main" id="{E8A00D74-A670-808E-FE03-6A22F99D9CBF}"/>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55CD9492-DB1A-8E84-D9A4-D1AFF33D0D5A}"/>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F7DC8C1D-6A17-BD67-42BF-7E0C9BCBA55A}"/>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B3FECDB1-2407-5972-8586-626EDC549E6A}"/>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226B8DA8-E269-4FC6-B98B-0DB7CF949EDC}"/>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2" name="TextBox 1">
            <a:extLst>
              <a:ext uri="{FF2B5EF4-FFF2-40B4-BE49-F238E27FC236}">
                <a16:creationId xmlns:a16="http://schemas.microsoft.com/office/drawing/2014/main" id="{54AE3FB3-E75D-2FC3-F5D9-F6A0A14798D4}"/>
              </a:ext>
            </a:extLst>
          </p:cNvPr>
          <p:cNvSpPr txBox="1">
            <a:spLocks/>
          </p:cNvSpPr>
          <p:nvPr/>
        </p:nvSpPr>
        <p:spPr>
          <a:xfrm>
            <a:off x="1044021" y="5218966"/>
            <a:ext cx="4051329" cy="708385"/>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4" name="TextBox 3">
            <a:extLst>
              <a:ext uri="{FF2B5EF4-FFF2-40B4-BE49-F238E27FC236}">
                <a16:creationId xmlns:a16="http://schemas.microsoft.com/office/drawing/2014/main" id="{5B0783A6-C143-A0A0-F01A-6F20A0A44DBF}"/>
              </a:ext>
            </a:extLst>
          </p:cNvPr>
          <p:cNvSpPr txBox="1">
            <a:spLocks/>
          </p:cNvSpPr>
          <p:nvPr/>
        </p:nvSpPr>
        <p:spPr>
          <a:xfrm>
            <a:off x="6986384" y="1397223"/>
            <a:ext cx="4051329" cy="4465694"/>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6" name="TextBox 5">
            <a:extLst>
              <a:ext uri="{FF2B5EF4-FFF2-40B4-BE49-F238E27FC236}">
                <a16:creationId xmlns:a16="http://schemas.microsoft.com/office/drawing/2014/main" id="{BB7197F2-5E11-78A4-CBA8-1C77BA5B5094}"/>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TextBox 7">
            <a:extLst>
              <a:ext uri="{FF2B5EF4-FFF2-40B4-BE49-F238E27FC236}">
                <a16:creationId xmlns:a16="http://schemas.microsoft.com/office/drawing/2014/main" id="{761CD3B4-6097-DF01-7BDA-5A62BD985CBE}"/>
              </a:ext>
            </a:extLst>
          </p:cNvPr>
          <p:cNvSpPr txBox="1">
            <a:spLocks/>
          </p:cNvSpPr>
          <p:nvPr/>
        </p:nvSpPr>
        <p:spPr>
          <a:xfrm>
            <a:off x="1021785" y="2069219"/>
            <a:ext cx="4051329" cy="708385"/>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9" name="Rectangle 8">
            <a:extLst>
              <a:ext uri="{FF2B5EF4-FFF2-40B4-BE49-F238E27FC236}">
                <a16:creationId xmlns:a16="http://schemas.microsoft.com/office/drawing/2014/main" id="{85BF224A-C504-F5A1-E138-5C6269BE0038}"/>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0" name="TextBox 9">
            <a:extLst>
              <a:ext uri="{FF2B5EF4-FFF2-40B4-BE49-F238E27FC236}">
                <a16:creationId xmlns:a16="http://schemas.microsoft.com/office/drawing/2014/main" id="{8BD2DE44-717F-A4F5-1E0D-EF1C6B0F8664}"/>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1264078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4AD49-5CF3-C2A3-933A-36BE0630A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BD39-8136-D071-95C5-E0B5E5404C8F}"/>
              </a:ext>
            </a:extLst>
          </p:cNvPr>
          <p:cNvSpPr>
            <a:spLocks noGrp="1"/>
          </p:cNvSpPr>
          <p:nvPr>
            <p:ph type="title"/>
          </p:nvPr>
        </p:nvSpPr>
        <p:spPr/>
        <p:txBody>
          <a:bodyPr/>
          <a:lstStyle/>
          <a:p>
            <a:r>
              <a:rPr lang="en-US"/>
              <a:t>Step 4 of 7 - Engineering (Buy/Build/Blend Approach)</a:t>
            </a:r>
          </a:p>
        </p:txBody>
      </p:sp>
      <p:graphicFrame>
        <p:nvGraphicFramePr>
          <p:cNvPr id="5" name="Table 4">
            <a:extLst>
              <a:ext uri="{FF2B5EF4-FFF2-40B4-BE49-F238E27FC236}">
                <a16:creationId xmlns:a16="http://schemas.microsoft.com/office/drawing/2014/main" id="{24B800A4-2658-D31E-19AD-C73EAF50CC8E}"/>
              </a:ext>
            </a:extLst>
          </p:cNvPr>
          <p:cNvGraphicFramePr>
            <a:graphicFrameLocks noGrp="1"/>
          </p:cNvGraphicFramePr>
          <p:nvPr>
            <p:extLst>
              <p:ext uri="{D42A27DB-BD31-4B8C-83A1-F6EECF244321}">
                <p14:modId xmlns:p14="http://schemas.microsoft.com/office/powerpoint/2010/main" val="2148727704"/>
              </p:ext>
            </p:extLst>
          </p:nvPr>
        </p:nvGraphicFramePr>
        <p:xfrm>
          <a:off x="433292" y="916889"/>
          <a:ext cx="11298460" cy="2569464"/>
        </p:xfrm>
        <a:graphic>
          <a:graphicData uri="http://schemas.openxmlformats.org/drawingml/2006/table">
            <a:tbl>
              <a:tblPr firstRow="1" bandRow="1">
                <a:tableStyleId>{6E25E649-3F16-4E02-A733-19D2CDBF48F0}</a:tableStyleId>
              </a:tblPr>
              <a:tblGrid>
                <a:gridCol w="7072408">
                  <a:extLst>
                    <a:ext uri="{9D8B030D-6E8A-4147-A177-3AD203B41FA5}">
                      <a16:colId xmlns:a16="http://schemas.microsoft.com/office/drawing/2014/main" val="1103306149"/>
                    </a:ext>
                  </a:extLst>
                </a:gridCol>
                <a:gridCol w="4226052">
                  <a:extLst>
                    <a:ext uri="{9D8B030D-6E8A-4147-A177-3AD203B41FA5}">
                      <a16:colId xmlns:a16="http://schemas.microsoft.com/office/drawing/2014/main" val="1136326097"/>
                    </a:ext>
                  </a:extLst>
                </a:gridCol>
              </a:tblGrid>
              <a:tr h="0">
                <a:tc gridSpan="2">
                  <a:txBody>
                    <a:bodyPr/>
                    <a:lstStyle/>
                    <a:p>
                      <a:pPr>
                        <a:lnSpc>
                          <a:spcPct val="90000"/>
                        </a:lnSpc>
                      </a:pPr>
                      <a:r>
                        <a:rPr lang="en-US" dirty="0"/>
                        <a:t>Which approach best matches your organization's realistic ability and strategic need? (Pick 1)</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327814846"/>
                  </a:ext>
                </a:extLst>
              </a:tr>
              <a:tr h="0">
                <a:tc>
                  <a:txBody>
                    <a:bodyPr/>
                    <a:lstStyle/>
                    <a:p>
                      <a:pPr>
                        <a:lnSpc>
                          <a:spcPct val="90000"/>
                        </a:lnSpc>
                      </a:pPr>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pPr>
                        <a:lnSpc>
                          <a:spcPct val="90000"/>
                        </a:lnSpc>
                      </a:pPr>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2765182919"/>
                  </a:ext>
                </a:extLst>
              </a:tr>
              <a:tr h="242563">
                <a:tc>
                  <a:txBody>
                    <a:bodyPr/>
                    <a:lstStyle/>
                    <a:p>
                      <a:pPr>
                        <a:lnSpc>
                          <a:spcPct val="90000"/>
                        </a:lnSpc>
                      </a:pPr>
                      <a:r>
                        <a:rPr lang="en-US" sz="1400" b="1" dirty="0"/>
                        <a:t>Buy-preferred: </a:t>
                      </a:r>
                    </a:p>
                    <a:p>
                      <a:pPr>
                        <a:lnSpc>
                          <a:spcPct val="90000"/>
                        </a:lnSpc>
                      </a:pPr>
                      <a:r>
                        <a:rPr lang="en-US" sz="1400" dirty="0"/>
                        <a:t>We use AI that comes embedded in the software we already own or buy off-the-shelf solutions.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Lower maturity organizations generally start here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96348145"/>
                  </a:ext>
                </a:extLst>
              </a:tr>
              <a:tr h="24256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dirty="0"/>
                        <a:t>Blend-preferred: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dirty="0"/>
                        <a:t>We prefer public models but build our own secure "wrappers" and interfaces to let our employees use them safely with our data.</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This is for organizations with specific needs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64570351"/>
                  </a:ext>
                </a:extLst>
              </a:tr>
              <a:tr h="242563">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dirty="0"/>
                        <a:t>Build-first: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dirty="0"/>
                        <a:t>We must build our own models from scratch using raw data because our industry is so unique or regulated that no vendor product can solve our problem.</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This is for higher-maturity or especially aggressive organizations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34014920"/>
                  </a:ext>
                </a:extLst>
              </a:tr>
            </a:tbl>
          </a:graphicData>
        </a:graphic>
      </p:graphicFrame>
      <p:graphicFrame>
        <p:nvGraphicFramePr>
          <p:cNvPr id="7" name="Content Placeholder 7">
            <a:extLst>
              <a:ext uri="{FF2B5EF4-FFF2-40B4-BE49-F238E27FC236}">
                <a16:creationId xmlns:a16="http://schemas.microsoft.com/office/drawing/2014/main" id="{ABD7C617-5E89-FCAB-A438-32D8290BFFC6}"/>
              </a:ext>
            </a:extLst>
          </p:cNvPr>
          <p:cNvGraphicFramePr>
            <a:graphicFrameLocks/>
          </p:cNvGraphicFramePr>
          <p:nvPr>
            <p:extLst>
              <p:ext uri="{D42A27DB-BD31-4B8C-83A1-F6EECF244321}">
                <p14:modId xmlns:p14="http://schemas.microsoft.com/office/powerpoint/2010/main" val="1581492294"/>
              </p:ext>
            </p:extLst>
          </p:nvPr>
        </p:nvGraphicFramePr>
        <p:xfrm>
          <a:off x="421338" y="3685411"/>
          <a:ext cx="11310414" cy="2468880"/>
        </p:xfrm>
        <a:graphic>
          <a:graphicData uri="http://schemas.openxmlformats.org/drawingml/2006/table">
            <a:tbl>
              <a:tblPr firstRow="1" bandRow="1">
                <a:tableStyleId>{6E25E649-3F16-4E02-A733-19D2CDBF48F0}</a:tableStyleId>
              </a:tblPr>
              <a:tblGrid>
                <a:gridCol w="7070171">
                  <a:extLst>
                    <a:ext uri="{9D8B030D-6E8A-4147-A177-3AD203B41FA5}">
                      <a16:colId xmlns:a16="http://schemas.microsoft.com/office/drawing/2014/main" val="2153033498"/>
                    </a:ext>
                  </a:extLst>
                </a:gridCol>
                <a:gridCol w="4240243">
                  <a:extLst>
                    <a:ext uri="{9D8B030D-6E8A-4147-A177-3AD203B41FA5}">
                      <a16:colId xmlns:a16="http://schemas.microsoft.com/office/drawing/2014/main" val="780625120"/>
                    </a:ext>
                  </a:extLst>
                </a:gridCol>
              </a:tblGrid>
              <a:tr h="164651">
                <a:tc gridSpan="2">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dirty="0"/>
                        <a:t>What is your posture toward AI </a:t>
                      </a:r>
                      <a:r>
                        <a:rPr lang="en-US" sz="1400" b="0" dirty="0"/>
                        <a:t>engineering skills</a:t>
                      </a:r>
                      <a:r>
                        <a:rPr lang="en-US" sz="1400" dirty="0"/>
                        <a:t>? (Pick 1)</a:t>
                      </a:r>
                    </a:p>
                  </a:txBody>
                  <a:tcPr>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164320356"/>
                  </a:ext>
                </a:extLst>
              </a:tr>
              <a:tr h="164651">
                <a:tc>
                  <a:txBody>
                    <a:bodyPr/>
                    <a:lstStyle/>
                    <a:p>
                      <a:pPr>
                        <a:lnSpc>
                          <a:spcPct val="90000"/>
                        </a:lnSpc>
                      </a:pPr>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pPr>
                        <a:lnSpc>
                          <a:spcPct val="90000"/>
                        </a:lnSpc>
                      </a:pPr>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1694380345"/>
                  </a:ext>
                </a:extLst>
              </a:tr>
              <a:tr h="300188">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t>We will invest in skills for all AI development as it core, product, and we are AI-first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t>This is for higher maturity and tech-first organizations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56701218"/>
                  </a:ext>
                </a:extLst>
              </a:tr>
              <a:tr h="300188">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t>We will outsource for low-value projects and retain high value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This is for organizations intending to use AI in core and product and service areas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3892857"/>
                  </a:ext>
                </a:extLst>
              </a:tr>
              <a:tr h="300188">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t>We will outsource for high value projects and retain low value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This is for organizations with a need for extremely fast to impact outcomes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0520655"/>
                  </a:ext>
                </a:extLst>
              </a:tr>
              <a:tr h="300188">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a:t>We will outsource for skills entirely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This is for organizations who have a strong mandate to contain IT costs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03125918"/>
                  </a:ext>
                </a:extLst>
              </a:tr>
            </a:tbl>
          </a:graphicData>
        </a:graphic>
      </p:graphicFrame>
    </p:spTree>
    <p:extLst>
      <p:ext uri="{BB962C8B-B14F-4D97-AF65-F5344CB8AC3E}">
        <p14:creationId xmlns:p14="http://schemas.microsoft.com/office/powerpoint/2010/main" val="1356216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06B8-33E7-482A-84E8-65C6233D6D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0AED5F-1ABE-D230-019C-26A1418087FF}"/>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56589029-6934-3234-3BE4-89E8BB4F833F}"/>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BA084A02-D796-1925-B93C-D952B911DA0E}"/>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0CBE1BF0-B572-6440-F3BD-2BBB90DF742A}"/>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8F423FB7-7580-4E14-71B2-A675BC696B43}"/>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9586452A-8DA0-BC80-91A4-119DDB9EA130}"/>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CE2B459A-5E28-B3CC-C9A1-C792A5CDE9CA}"/>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F81B1E79-91A2-F02D-F677-2BBA85300112}"/>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73364605-BAF6-FAB0-5B14-08E7C0754DE8}"/>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821AC448-B6D6-E45E-3642-CA946E53E60D}"/>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0499375B-343A-5B58-C243-1A34B7E36DB7}"/>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125CCBD7-EEA2-5187-8249-2BBD95BB5C0D}"/>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662CFA60-77C8-EE2A-572D-36A4A159D1DD}"/>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Empowerment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Augmentation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Embedding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Automation </a:t>
            </a:r>
          </a:p>
        </p:txBody>
      </p:sp>
      <p:sp>
        <p:nvSpPr>
          <p:cNvPr id="32" name="Rectangle 31">
            <a:extLst>
              <a:ext uri="{FF2B5EF4-FFF2-40B4-BE49-F238E27FC236}">
                <a16:creationId xmlns:a16="http://schemas.microsoft.com/office/drawing/2014/main" id="{54449ED0-FFBB-EF7A-F60B-9CD10C91D234}"/>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9EE80091-8151-302B-0782-814EDEBBB53A}"/>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Where to start and where to evolve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Which approach for which departments</a:t>
            </a:r>
          </a:p>
        </p:txBody>
      </p:sp>
      <p:sp>
        <p:nvSpPr>
          <p:cNvPr id="34" name="TextBox 33">
            <a:extLst>
              <a:ext uri="{FF2B5EF4-FFF2-40B4-BE49-F238E27FC236}">
                <a16:creationId xmlns:a16="http://schemas.microsoft.com/office/drawing/2014/main" id="{775BE285-F1B0-3144-ABF9-7D0A5CC07820}"/>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141EBC95-D63F-DB36-871D-782BB6E3C81F}"/>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6" name="TextBox 35">
            <a:extLst>
              <a:ext uri="{FF2B5EF4-FFF2-40B4-BE49-F238E27FC236}">
                <a16:creationId xmlns:a16="http://schemas.microsoft.com/office/drawing/2014/main" id="{A9689A9C-A553-1D70-B72B-6110880E41DA}"/>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t"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Buy-preferred: AI that comes embedded or off-the-shelf</a:t>
            </a: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Blend-preferred:  </a:t>
            </a:r>
            <a:r>
              <a:rPr kumimoji="0" lang="en-US" sz="800" b="0" i="0" u="none" strike="noStrike" kern="1200" cap="none" spc="0" normalizeH="0" baseline="0" noProof="0">
                <a:ln>
                  <a:noFill/>
                </a:ln>
                <a:solidFill>
                  <a:srgbClr val="000000"/>
                </a:solidFill>
                <a:effectLst/>
                <a:uLnTx/>
                <a:uFillTx/>
                <a:latin typeface="Gartner Sans"/>
                <a:ea typeface="+mn-ea"/>
                <a:cs typeface="+mn-cs"/>
              </a:rPr>
              <a:t>public models plus secure "wrappers" and interfaces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Build-first:  </a:t>
            </a:r>
            <a:r>
              <a:rPr kumimoji="0" lang="en-US" sz="800" b="0" i="0" u="none" strike="noStrike" kern="1200" cap="none" spc="0" normalizeH="0" baseline="0" noProof="0">
                <a:ln>
                  <a:noFill/>
                </a:ln>
                <a:solidFill>
                  <a:srgbClr val="000000"/>
                </a:solidFill>
                <a:effectLst/>
                <a:uLnTx/>
                <a:uFillTx/>
                <a:latin typeface="Gartner Sans"/>
                <a:ea typeface="+mn-ea"/>
                <a:cs typeface="+mn-cs"/>
              </a:rPr>
              <a:t>We build bespoke models from scratch when we can to meet specific needs, security or compliance</a:t>
            </a:r>
          </a:p>
        </p:txBody>
      </p:sp>
      <p:sp>
        <p:nvSpPr>
          <p:cNvPr id="37" name="Rectangle 36">
            <a:extLst>
              <a:ext uri="{FF2B5EF4-FFF2-40B4-BE49-F238E27FC236}">
                <a16:creationId xmlns:a16="http://schemas.microsoft.com/office/drawing/2014/main" id="{533E8E7B-26FF-DFDB-B0C4-C4D16F9CEA36}"/>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FC512EE2-C603-9E09-7D06-09EED02B208A}"/>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invest in skills for all AI development as it core, product, and we are AI-first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low-value projects retain high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high value projects and retain low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skills entirely </a:t>
            </a:r>
          </a:p>
        </p:txBody>
      </p:sp>
      <p:sp>
        <p:nvSpPr>
          <p:cNvPr id="39" name="TextBox 38">
            <a:extLst>
              <a:ext uri="{FF2B5EF4-FFF2-40B4-BE49-F238E27FC236}">
                <a16:creationId xmlns:a16="http://schemas.microsoft.com/office/drawing/2014/main" id="{052361DA-02A6-A7EA-E967-9750C7B67097}"/>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1</a:t>
            </a:r>
          </a:p>
        </p:txBody>
      </p:sp>
      <p:sp>
        <p:nvSpPr>
          <p:cNvPr id="40" name="TextBox 39">
            <a:extLst>
              <a:ext uri="{FF2B5EF4-FFF2-40B4-BE49-F238E27FC236}">
                <a16:creationId xmlns:a16="http://schemas.microsoft.com/office/drawing/2014/main" id="{B505D106-73AF-9AD7-FE2C-AD7DBF38EFA2}"/>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2 </a:t>
            </a:r>
          </a:p>
        </p:txBody>
      </p:sp>
      <p:sp>
        <p:nvSpPr>
          <p:cNvPr id="41" name="TextBox 40">
            <a:extLst>
              <a:ext uri="{FF2B5EF4-FFF2-40B4-BE49-F238E27FC236}">
                <a16:creationId xmlns:a16="http://schemas.microsoft.com/office/drawing/2014/main" id="{2194B919-1796-F2EA-F469-1E823F072449}"/>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AEAF4A31-4074-146D-391D-9BCD05C3877E}"/>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57A13DB4-9CD6-122F-E831-B5A2D95F3ECD}"/>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768CA753-B83A-3E2C-7D66-F40EE0C1BED8}"/>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6" name="TextBox 45">
            <a:extLst>
              <a:ext uri="{FF2B5EF4-FFF2-40B4-BE49-F238E27FC236}">
                <a16:creationId xmlns:a16="http://schemas.microsoft.com/office/drawing/2014/main" id="{8820FAD2-75BC-B281-F63B-8A03813EBE9B}"/>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7" name="Rectangle 46">
            <a:extLst>
              <a:ext uri="{FF2B5EF4-FFF2-40B4-BE49-F238E27FC236}">
                <a16:creationId xmlns:a16="http://schemas.microsoft.com/office/drawing/2014/main" id="{8B3C8E73-D39F-B196-80CF-E7A493011F2B}"/>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55249550-6E87-D296-5608-C34003A5F826}"/>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9" name="TextBox 48">
            <a:extLst>
              <a:ext uri="{FF2B5EF4-FFF2-40B4-BE49-F238E27FC236}">
                <a16:creationId xmlns:a16="http://schemas.microsoft.com/office/drawing/2014/main" id="{26EA4B02-066C-67BF-8604-A24CF695C566}"/>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7ED072F3-D269-2B48-5D07-899FAB02F7D0}"/>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51" name="TextBox 50">
            <a:extLst>
              <a:ext uri="{FF2B5EF4-FFF2-40B4-BE49-F238E27FC236}">
                <a16:creationId xmlns:a16="http://schemas.microsoft.com/office/drawing/2014/main" id="{EAF04B5F-BA41-FE2F-48B8-8012DEF28508}"/>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7A17B692-76C6-67DC-07B0-48926E18DE9B}"/>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337CAAB3-97AA-64AB-CFAE-0DEF4427B648}"/>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7309E260-D3E2-7DDB-5491-8B27E5D69C90}"/>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1B7C1FE3-5ED7-FA9D-0CD7-2EEB9B6F1C82}"/>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 name="TextBox 3">
            <a:extLst>
              <a:ext uri="{FF2B5EF4-FFF2-40B4-BE49-F238E27FC236}">
                <a16:creationId xmlns:a16="http://schemas.microsoft.com/office/drawing/2014/main" id="{B63F8AE8-340A-5570-B52C-5500C386BC9D}"/>
              </a:ext>
            </a:extLst>
          </p:cNvPr>
          <p:cNvSpPr txBox="1">
            <a:spLocks/>
          </p:cNvSpPr>
          <p:nvPr/>
        </p:nvSpPr>
        <p:spPr>
          <a:xfrm>
            <a:off x="6986384" y="1397223"/>
            <a:ext cx="4051329" cy="4465694"/>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6" name="TextBox 5">
            <a:extLst>
              <a:ext uri="{FF2B5EF4-FFF2-40B4-BE49-F238E27FC236}">
                <a16:creationId xmlns:a16="http://schemas.microsoft.com/office/drawing/2014/main" id="{80767A30-9487-35D8-85E2-A64A55607660}"/>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TextBox 7">
            <a:extLst>
              <a:ext uri="{FF2B5EF4-FFF2-40B4-BE49-F238E27FC236}">
                <a16:creationId xmlns:a16="http://schemas.microsoft.com/office/drawing/2014/main" id="{151AB049-2638-61DC-0075-66CE7DB35DB1}"/>
              </a:ext>
            </a:extLst>
          </p:cNvPr>
          <p:cNvSpPr txBox="1">
            <a:spLocks/>
          </p:cNvSpPr>
          <p:nvPr/>
        </p:nvSpPr>
        <p:spPr>
          <a:xfrm>
            <a:off x="1021785" y="2069219"/>
            <a:ext cx="4051329" cy="2151236"/>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2" name="Rectangle 1">
            <a:extLst>
              <a:ext uri="{FF2B5EF4-FFF2-40B4-BE49-F238E27FC236}">
                <a16:creationId xmlns:a16="http://schemas.microsoft.com/office/drawing/2014/main" id="{C57841C7-99B0-B3C1-78E3-B512C43163A6}"/>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9" name="TextBox 8">
            <a:extLst>
              <a:ext uri="{FF2B5EF4-FFF2-40B4-BE49-F238E27FC236}">
                <a16:creationId xmlns:a16="http://schemas.microsoft.com/office/drawing/2014/main" id="{3C7BE863-9B77-8989-274F-2EF60A7180CB}"/>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3068802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C21F-AAD2-6DC7-4EAF-8A82573BC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380BF-C4B4-7A86-ACB7-774DF9567AAA}"/>
              </a:ext>
            </a:extLst>
          </p:cNvPr>
          <p:cNvSpPr>
            <a:spLocks noGrp="1"/>
          </p:cNvSpPr>
          <p:nvPr>
            <p:ph type="title"/>
          </p:nvPr>
        </p:nvSpPr>
        <p:spPr/>
        <p:txBody>
          <a:bodyPr/>
          <a:lstStyle/>
          <a:p>
            <a:r>
              <a:rPr lang="en-US"/>
              <a:t>Step 5 of 7 - Governance </a:t>
            </a:r>
          </a:p>
        </p:txBody>
      </p:sp>
      <p:graphicFrame>
        <p:nvGraphicFramePr>
          <p:cNvPr id="3" name="Table 2">
            <a:extLst>
              <a:ext uri="{FF2B5EF4-FFF2-40B4-BE49-F238E27FC236}">
                <a16:creationId xmlns:a16="http://schemas.microsoft.com/office/drawing/2014/main" id="{DBC47BFF-D049-688A-25B4-9E763FC5E47A}"/>
              </a:ext>
            </a:extLst>
          </p:cNvPr>
          <p:cNvGraphicFramePr>
            <a:graphicFrameLocks noGrp="1"/>
          </p:cNvGraphicFramePr>
          <p:nvPr>
            <p:extLst>
              <p:ext uri="{D42A27DB-BD31-4B8C-83A1-F6EECF244321}">
                <p14:modId xmlns:p14="http://schemas.microsoft.com/office/powerpoint/2010/main" val="3095129408"/>
              </p:ext>
            </p:extLst>
          </p:nvPr>
        </p:nvGraphicFramePr>
        <p:xfrm>
          <a:off x="552822" y="1527048"/>
          <a:ext cx="8045076" cy="3689795"/>
        </p:xfrm>
        <a:graphic>
          <a:graphicData uri="http://schemas.openxmlformats.org/drawingml/2006/table">
            <a:tbl>
              <a:tblPr firstRow="1" bandRow="1">
                <a:tableStyleId>{6E25E649-3F16-4E02-A733-19D2CDBF48F0}</a:tableStyleId>
              </a:tblPr>
              <a:tblGrid>
                <a:gridCol w="4022538">
                  <a:extLst>
                    <a:ext uri="{9D8B030D-6E8A-4147-A177-3AD203B41FA5}">
                      <a16:colId xmlns:a16="http://schemas.microsoft.com/office/drawing/2014/main" val="1477222614"/>
                    </a:ext>
                  </a:extLst>
                </a:gridCol>
                <a:gridCol w="4022538">
                  <a:extLst>
                    <a:ext uri="{9D8B030D-6E8A-4147-A177-3AD203B41FA5}">
                      <a16:colId xmlns:a16="http://schemas.microsoft.com/office/drawing/2014/main" val="2367207145"/>
                    </a:ext>
                  </a:extLst>
                </a:gridCol>
              </a:tblGrid>
              <a:tr h="382715">
                <a:tc gridSpan="2">
                  <a:txBody>
                    <a:bodyPr/>
                    <a:lstStyle/>
                    <a:p>
                      <a:r>
                        <a:rPr lang="en-US"/>
                        <a:t>How will you create the rule structure about how to make decisions about AI usage today? (Pick 1) </a:t>
                      </a:r>
                    </a:p>
                  </a:txBody>
                  <a:tcPr>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91196305"/>
                  </a:ext>
                </a:extLst>
              </a:tr>
              <a:tr h="381000">
                <a:tc>
                  <a:txBody>
                    <a:bodyPr/>
                    <a:lstStyle/>
                    <a:p>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3533746108"/>
                  </a:ext>
                </a:extLst>
              </a:tr>
              <a:tr h="731520">
                <a:tc>
                  <a:txBody>
                    <a:bodyPr/>
                    <a:lstStyle/>
                    <a:p>
                      <a:r>
                        <a:rPr lang="en-US" dirty="0"/>
                        <a:t>Quick Matters Most: We need a quick stoplight rule so we can OK good ideas fast, block mistakes and go fast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dirty="0"/>
                        <a:t>The intention is to deploy at scale but reserve governance resources for the most important cases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61247322"/>
                  </a:ext>
                </a:extLst>
              </a:tr>
              <a:tr h="731520">
                <a:tc>
                  <a:txBody>
                    <a:bodyPr/>
                    <a:lstStyle/>
                    <a:p>
                      <a:r>
                        <a:rPr lang="en-US" dirty="0"/>
                        <a:t>Risk-Averse: Central review, stringent standards, “maybe” means wait while we think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dirty="0"/>
                        <a:t>We must satisfy powerful external stakeholders, including enforcement, as well as internal caution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92384011"/>
                  </a:ext>
                </a:extLst>
              </a:tr>
              <a:tr h="731520">
                <a:tc>
                  <a:txBody>
                    <a:bodyPr/>
                    <a:lstStyle/>
                    <a:p>
                      <a:r>
                        <a:rPr lang="en-US"/>
                        <a:t>Edge Ownership: Policies and professionalism let us trust business units or departments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dirty="0"/>
                        <a:t>We have a culture of distributed responsibility and risk ownership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09762107"/>
                  </a:ext>
                </a:extLst>
              </a:tr>
              <a:tr h="731520">
                <a:tc>
                  <a:txBody>
                    <a:bodyPr/>
                    <a:lstStyle/>
                    <a:p>
                      <a:r>
                        <a:rPr lang="en-US"/>
                        <a:t>Intentional Innovation: People experiment with whatever tools they find useful</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dirty="0"/>
                        <a:t>We are digital-first to a fault – our products and services are AI-era or should be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18101352"/>
                  </a:ext>
                </a:extLst>
              </a:tr>
            </a:tbl>
          </a:graphicData>
        </a:graphic>
      </p:graphicFrame>
      <p:sp>
        <p:nvSpPr>
          <p:cNvPr id="7" name="Content Placeholder 3">
            <a:extLst>
              <a:ext uri="{FF2B5EF4-FFF2-40B4-BE49-F238E27FC236}">
                <a16:creationId xmlns:a16="http://schemas.microsoft.com/office/drawing/2014/main" id="{16057261-C101-E261-8DD4-23C455E18E2F}"/>
              </a:ext>
            </a:extLst>
          </p:cNvPr>
          <p:cNvSpPr txBox="1">
            <a:spLocks/>
          </p:cNvSpPr>
          <p:nvPr/>
        </p:nvSpPr>
        <p:spPr>
          <a:xfrm>
            <a:off x="8964390" y="1527048"/>
            <a:ext cx="2827495" cy="3812345"/>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Gartner Sans"/>
                <a:ea typeface="+mn-ea"/>
                <a:cs typeface="+mn-cs"/>
              </a:rPr>
              <a:t>Customization Considerations:</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Who will own negative outcomes?</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How mistakes will be addressed?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Regional variations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Departmental variations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Internal/external view</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RACI stringency </a:t>
            </a:r>
          </a:p>
        </p:txBody>
      </p:sp>
      <p:cxnSp>
        <p:nvCxnSpPr>
          <p:cNvPr id="8" name="Straight Connector 7">
            <a:extLst>
              <a:ext uri="{FF2B5EF4-FFF2-40B4-BE49-F238E27FC236}">
                <a16:creationId xmlns:a16="http://schemas.microsoft.com/office/drawing/2014/main" id="{FEEE2792-F421-A932-BF26-154DBDA22151}"/>
              </a:ext>
            </a:extLst>
          </p:cNvPr>
          <p:cNvCxnSpPr/>
          <p:nvPr/>
        </p:nvCxnSpPr>
        <p:spPr>
          <a:xfrm>
            <a:off x="8826221" y="1527048"/>
            <a:ext cx="0" cy="3822192"/>
          </a:xfrm>
          <a:prstGeom prst="line">
            <a:avLst/>
          </a:prstGeom>
          <a:noFill/>
          <a:ln w="19050" cap="flat" cmpd="sng">
            <a:solidFill>
              <a:srgbClr val="707996"/>
            </a:solidFill>
            <a:prstDash val="solid"/>
            <a:round/>
            <a:headEnd type="none" w="lg" len="med"/>
            <a:tailEnd type="none" w="lg" len="med"/>
          </a:ln>
        </p:spPr>
      </p:cxnSp>
    </p:spTree>
    <p:extLst>
      <p:ext uri="{BB962C8B-B14F-4D97-AF65-F5344CB8AC3E}">
        <p14:creationId xmlns:p14="http://schemas.microsoft.com/office/powerpoint/2010/main" val="1166629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35C0-60D8-9D6E-28DD-CFF1CED519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F704B0-F4D8-2C15-A8B3-C5F589CF90AD}"/>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54C73947-9C1F-7C85-B526-09A15945FD65}"/>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9F25EE94-BB9F-A9BE-9BD3-EAE2DC92DD01}"/>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B0C7CAD1-B025-049E-61DE-90D7AC2DB8A9}"/>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2E713780-A02B-E731-82B6-33D6B0509FB6}"/>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76AEFF0A-3235-12CD-82BA-285B61ABE3E0}"/>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1D1853A2-C128-A345-BB16-D3F18BEED361}"/>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9E6BAFC2-B9E1-0BC0-87FF-F5FD62C27917}"/>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DB06200F-6BA0-5CE1-E33D-B144A2A3BDE1}"/>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E1B1302C-6586-1715-BBB2-1BFD482EFBB9}"/>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3DA87AD4-297C-6419-1904-B5B0BC65A0EB}"/>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88778390-6A26-ECE9-FF82-1051C3D4DD69}"/>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0B7E1396-3E19-A43A-70F4-B80AE888337B}"/>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Empowerment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Augmentation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Embedding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Automation </a:t>
            </a:r>
          </a:p>
        </p:txBody>
      </p:sp>
      <p:sp>
        <p:nvSpPr>
          <p:cNvPr id="32" name="Rectangle 31">
            <a:extLst>
              <a:ext uri="{FF2B5EF4-FFF2-40B4-BE49-F238E27FC236}">
                <a16:creationId xmlns:a16="http://schemas.microsoft.com/office/drawing/2014/main" id="{2756C9DB-346B-E8D6-EE2B-F78C52F3C3E9}"/>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DF8E1BF4-9536-E6FC-A9F6-A7DF13164C2A}"/>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Where to start and where to evolve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Which approach for which departments</a:t>
            </a:r>
          </a:p>
        </p:txBody>
      </p:sp>
      <p:sp>
        <p:nvSpPr>
          <p:cNvPr id="34" name="TextBox 33">
            <a:extLst>
              <a:ext uri="{FF2B5EF4-FFF2-40B4-BE49-F238E27FC236}">
                <a16:creationId xmlns:a16="http://schemas.microsoft.com/office/drawing/2014/main" id="{79CB4AA6-77A7-3424-EC1B-0A7E0E4F6BF0}"/>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88130E57-DFD0-1B44-05E3-B82A532CBC0B}"/>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6" name="TextBox 35">
            <a:extLst>
              <a:ext uri="{FF2B5EF4-FFF2-40B4-BE49-F238E27FC236}">
                <a16:creationId xmlns:a16="http://schemas.microsoft.com/office/drawing/2014/main" id="{48467582-3C9B-E74E-217A-336F2715E069}"/>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t"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Buy-preferred: AI that comes embedded or off-the-shelf</a:t>
            </a: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Blend-preferred:  </a:t>
            </a:r>
            <a:r>
              <a:rPr kumimoji="0" lang="en-US" sz="800" b="0" i="0" u="none" strike="noStrike" kern="1200" cap="none" spc="0" normalizeH="0" baseline="0" noProof="0">
                <a:ln>
                  <a:noFill/>
                </a:ln>
                <a:solidFill>
                  <a:srgbClr val="000000"/>
                </a:solidFill>
                <a:effectLst/>
                <a:uLnTx/>
                <a:uFillTx/>
                <a:latin typeface="Gartner Sans"/>
                <a:ea typeface="+mn-ea"/>
                <a:cs typeface="+mn-cs"/>
              </a:rPr>
              <a:t>public models plus secure "wrappers" and interfaces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Build-first:  </a:t>
            </a:r>
            <a:r>
              <a:rPr kumimoji="0" lang="en-US" sz="800" b="0" i="0" u="none" strike="noStrike" kern="1200" cap="none" spc="0" normalizeH="0" baseline="0" noProof="0">
                <a:ln>
                  <a:noFill/>
                </a:ln>
                <a:solidFill>
                  <a:srgbClr val="000000"/>
                </a:solidFill>
                <a:effectLst/>
                <a:uLnTx/>
                <a:uFillTx/>
                <a:latin typeface="Gartner Sans"/>
                <a:ea typeface="+mn-ea"/>
                <a:cs typeface="+mn-cs"/>
              </a:rPr>
              <a:t>We build bespoke models from scratch when we can to meet specific needs, security or compliance</a:t>
            </a:r>
          </a:p>
        </p:txBody>
      </p:sp>
      <p:sp>
        <p:nvSpPr>
          <p:cNvPr id="37" name="Rectangle 36">
            <a:extLst>
              <a:ext uri="{FF2B5EF4-FFF2-40B4-BE49-F238E27FC236}">
                <a16:creationId xmlns:a16="http://schemas.microsoft.com/office/drawing/2014/main" id="{3F1DC8ED-9BBC-31EB-5AD5-338D6B66BC3D}"/>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056C8E96-A36C-5025-04BC-08C755CC0DC4}"/>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invest in skills for all AI development as it core, product, and we are AI-first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low-value projects retain high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high value projects and retain low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skills entirely </a:t>
            </a:r>
          </a:p>
        </p:txBody>
      </p:sp>
      <p:sp>
        <p:nvSpPr>
          <p:cNvPr id="39" name="TextBox 38">
            <a:extLst>
              <a:ext uri="{FF2B5EF4-FFF2-40B4-BE49-F238E27FC236}">
                <a16:creationId xmlns:a16="http://schemas.microsoft.com/office/drawing/2014/main" id="{0EE8776F-11D9-CC3E-3E55-E977AF2E2BBC}"/>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1</a:t>
            </a:r>
          </a:p>
        </p:txBody>
      </p:sp>
      <p:sp>
        <p:nvSpPr>
          <p:cNvPr id="40" name="TextBox 39">
            <a:extLst>
              <a:ext uri="{FF2B5EF4-FFF2-40B4-BE49-F238E27FC236}">
                <a16:creationId xmlns:a16="http://schemas.microsoft.com/office/drawing/2014/main" id="{A438DCF1-49D7-486A-C0F8-27C740240C94}"/>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2 </a:t>
            </a:r>
          </a:p>
        </p:txBody>
      </p:sp>
      <p:sp>
        <p:nvSpPr>
          <p:cNvPr id="41" name="TextBox 40">
            <a:extLst>
              <a:ext uri="{FF2B5EF4-FFF2-40B4-BE49-F238E27FC236}">
                <a16:creationId xmlns:a16="http://schemas.microsoft.com/office/drawing/2014/main" id="{8D649CC9-7FB4-FD90-5AC1-733662A3D047}"/>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Quick Matters Most: All Triage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Risk-Averse: Check Everything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Edge Ownership: Delegate Much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Innovate!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2DF93E5F-BC37-836C-FBD2-7F6D67F80338}"/>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379BCF91-168D-78AF-A5A3-81D1FE41C90A}"/>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065478F5-2320-B878-DCAE-9CAF91FFF90A}"/>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46" name="TextBox 45">
            <a:extLst>
              <a:ext uri="{FF2B5EF4-FFF2-40B4-BE49-F238E27FC236}">
                <a16:creationId xmlns:a16="http://schemas.microsoft.com/office/drawing/2014/main" id="{B5A02691-DBB1-CE19-6C02-F402AA019C32}"/>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7" name="Rectangle 46">
            <a:extLst>
              <a:ext uri="{FF2B5EF4-FFF2-40B4-BE49-F238E27FC236}">
                <a16:creationId xmlns:a16="http://schemas.microsoft.com/office/drawing/2014/main" id="{8706597B-FCBA-879D-C995-1B2A9D5F9B0D}"/>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8F09E083-80FA-2AC1-D76D-268A5BDD2B90}"/>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49" name="TextBox 48">
            <a:extLst>
              <a:ext uri="{FF2B5EF4-FFF2-40B4-BE49-F238E27FC236}">
                <a16:creationId xmlns:a16="http://schemas.microsoft.com/office/drawing/2014/main" id="{D0686B20-8474-BA75-BC7B-4D46AAEB5306}"/>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F0DE1821-EC9B-A48D-BFC0-2497C6077DE7}"/>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51" name="TextBox 50">
            <a:extLst>
              <a:ext uri="{FF2B5EF4-FFF2-40B4-BE49-F238E27FC236}">
                <a16:creationId xmlns:a16="http://schemas.microsoft.com/office/drawing/2014/main" id="{7B695B41-E6D7-B57C-FCD0-ACD2BDE8D8B1}"/>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D020F22F-B1CA-02A9-C4F4-073F17F840AF}"/>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1BBA5758-8191-73FC-8EFB-F8E1DCC22DEC}"/>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82523150-B2A5-48EE-813F-E277385D13BE}"/>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29EB98B2-A7A0-13BC-A7CC-B6C47AF305C9}"/>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 name="TextBox 3">
            <a:extLst>
              <a:ext uri="{FF2B5EF4-FFF2-40B4-BE49-F238E27FC236}">
                <a16:creationId xmlns:a16="http://schemas.microsoft.com/office/drawing/2014/main" id="{DB811086-A257-E1C8-5371-8DA0BBB9A01C}"/>
              </a:ext>
            </a:extLst>
          </p:cNvPr>
          <p:cNvSpPr txBox="1">
            <a:spLocks/>
          </p:cNvSpPr>
          <p:nvPr/>
        </p:nvSpPr>
        <p:spPr>
          <a:xfrm>
            <a:off x="7075071" y="3821581"/>
            <a:ext cx="4051329" cy="1843542"/>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6" name="TextBox 5">
            <a:extLst>
              <a:ext uri="{FF2B5EF4-FFF2-40B4-BE49-F238E27FC236}">
                <a16:creationId xmlns:a16="http://schemas.microsoft.com/office/drawing/2014/main" id="{8AA324C9-9C60-AFD2-8BC0-4868350B309F}"/>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TextBox 7">
            <a:extLst>
              <a:ext uri="{FF2B5EF4-FFF2-40B4-BE49-F238E27FC236}">
                <a16:creationId xmlns:a16="http://schemas.microsoft.com/office/drawing/2014/main" id="{5CF13926-72D8-B340-7480-B752081F8FB3}"/>
              </a:ext>
            </a:extLst>
          </p:cNvPr>
          <p:cNvSpPr txBox="1">
            <a:spLocks/>
          </p:cNvSpPr>
          <p:nvPr/>
        </p:nvSpPr>
        <p:spPr>
          <a:xfrm>
            <a:off x="1119059" y="1877375"/>
            <a:ext cx="4051329" cy="3793698"/>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2" name="TextBox 1">
            <a:extLst>
              <a:ext uri="{FF2B5EF4-FFF2-40B4-BE49-F238E27FC236}">
                <a16:creationId xmlns:a16="http://schemas.microsoft.com/office/drawing/2014/main" id="{70918402-847E-3A37-ABED-329FF345C869}"/>
              </a:ext>
            </a:extLst>
          </p:cNvPr>
          <p:cNvSpPr txBox="1">
            <a:spLocks/>
          </p:cNvSpPr>
          <p:nvPr/>
        </p:nvSpPr>
        <p:spPr>
          <a:xfrm>
            <a:off x="9224396" y="1992490"/>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Who will own negative outcomes / address mistakes?</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Regional, departmental variations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Internal/external view</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RACI stringency </a:t>
            </a:r>
          </a:p>
        </p:txBody>
      </p:sp>
      <p:sp>
        <p:nvSpPr>
          <p:cNvPr id="9" name="Rectangle 8">
            <a:extLst>
              <a:ext uri="{FF2B5EF4-FFF2-40B4-BE49-F238E27FC236}">
                <a16:creationId xmlns:a16="http://schemas.microsoft.com/office/drawing/2014/main" id="{180538D6-3DC2-C6CC-52DE-A3BC05701D3A}"/>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0" name="TextBox 9">
            <a:extLst>
              <a:ext uri="{FF2B5EF4-FFF2-40B4-BE49-F238E27FC236}">
                <a16:creationId xmlns:a16="http://schemas.microsoft.com/office/drawing/2014/main" id="{812CB8C8-16F6-59F6-4BC6-670415297FAC}"/>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2618687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A5B9-C2AE-CB16-437E-B55341FF0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D7BCA-7A7A-E31E-577E-A114288217A3}"/>
              </a:ext>
            </a:extLst>
          </p:cNvPr>
          <p:cNvSpPr>
            <a:spLocks noGrp="1"/>
          </p:cNvSpPr>
          <p:nvPr>
            <p:ph type="title"/>
          </p:nvPr>
        </p:nvSpPr>
        <p:spPr/>
        <p:txBody>
          <a:bodyPr/>
          <a:lstStyle/>
          <a:p>
            <a:r>
              <a:rPr lang="en-US"/>
              <a:t>Step 6 of 7 - Organization  </a:t>
            </a:r>
          </a:p>
        </p:txBody>
      </p:sp>
      <p:graphicFrame>
        <p:nvGraphicFramePr>
          <p:cNvPr id="9" name="Table 8">
            <a:extLst>
              <a:ext uri="{FF2B5EF4-FFF2-40B4-BE49-F238E27FC236}">
                <a16:creationId xmlns:a16="http://schemas.microsoft.com/office/drawing/2014/main" id="{B8F82DEA-F01F-6B56-0786-3440EFCE1B56}"/>
              </a:ext>
            </a:extLst>
          </p:cNvPr>
          <p:cNvGraphicFramePr>
            <a:graphicFrameLocks noGrp="1"/>
          </p:cNvGraphicFramePr>
          <p:nvPr>
            <p:extLst>
              <p:ext uri="{D42A27DB-BD31-4B8C-83A1-F6EECF244321}">
                <p14:modId xmlns:p14="http://schemas.microsoft.com/office/powerpoint/2010/main" val="2956587183"/>
              </p:ext>
            </p:extLst>
          </p:nvPr>
        </p:nvGraphicFramePr>
        <p:xfrm>
          <a:off x="457200" y="1527048"/>
          <a:ext cx="8266108" cy="4399280"/>
        </p:xfrm>
        <a:graphic>
          <a:graphicData uri="http://schemas.openxmlformats.org/drawingml/2006/table">
            <a:tbl>
              <a:tblPr firstRow="1" bandRow="1">
                <a:tableStyleId>{6E25E649-3F16-4E02-A733-19D2CDBF48F0}</a:tableStyleId>
              </a:tblPr>
              <a:tblGrid>
                <a:gridCol w="4133054">
                  <a:extLst>
                    <a:ext uri="{9D8B030D-6E8A-4147-A177-3AD203B41FA5}">
                      <a16:colId xmlns:a16="http://schemas.microsoft.com/office/drawing/2014/main" val="171226904"/>
                    </a:ext>
                  </a:extLst>
                </a:gridCol>
                <a:gridCol w="4133054">
                  <a:extLst>
                    <a:ext uri="{9D8B030D-6E8A-4147-A177-3AD203B41FA5}">
                      <a16:colId xmlns:a16="http://schemas.microsoft.com/office/drawing/2014/main" val="4149414635"/>
                    </a:ext>
                  </a:extLst>
                </a:gridCol>
              </a:tblGrid>
              <a:tr h="370840">
                <a:tc gridSpan="2">
                  <a:txBody>
                    <a:bodyPr/>
                    <a:lstStyle/>
                    <a:p>
                      <a:pPr marL="0" indent="0">
                        <a:lnSpc>
                          <a:spcPct val="90000"/>
                        </a:lnSpc>
                        <a:buNone/>
                      </a:pPr>
                      <a:r>
                        <a:rPr lang="en-US" sz="1400"/>
                        <a:t>What operating model best describes how you want to structure your people and leadership? (Pick 1)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868009005"/>
                  </a:ext>
                </a:extLst>
              </a:tr>
              <a:tr h="370840">
                <a:tc>
                  <a:txBody>
                    <a:bodyPr/>
                    <a:lstStyle/>
                    <a:p>
                      <a:pPr>
                        <a:lnSpc>
                          <a:spcPct val="90000"/>
                        </a:lnSpc>
                      </a:pPr>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pPr>
                        <a:lnSpc>
                          <a:spcPct val="90000"/>
                        </a:lnSpc>
                      </a:pPr>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2108163499"/>
                  </a:ext>
                </a:extLst>
              </a:tr>
              <a:tr h="1097280">
                <a:tc>
                  <a:txBody>
                    <a:bodyPr/>
                    <a:lstStyle/>
                    <a:p>
                      <a:pPr>
                        <a:lnSpc>
                          <a:spcPct val="90000"/>
                        </a:lnSpc>
                      </a:pPr>
                      <a:r>
                        <a:rPr lang="en-US" sz="1400" b="1" dirty="0"/>
                        <a:t>Deeply Structured: </a:t>
                      </a:r>
                    </a:p>
                    <a:p>
                      <a:pPr>
                        <a:lnSpc>
                          <a:spcPct val="90000"/>
                        </a:lnSpc>
                      </a:pPr>
                      <a:r>
                        <a:rPr lang="en-US" sz="1400" dirty="0"/>
                        <a:t>An AI Council sets strategy and governance; a shared services COE delivers into the enterprise; fusion teams roam the </a:t>
                      </a:r>
                      <a:r>
                        <a:rPr lang="en-US" sz="1400" dirty="0" err="1"/>
                        <a:t>workscape</a:t>
                      </a:r>
                      <a:r>
                        <a:rPr lang="en-US" sz="1400" dirty="0"/>
                        <a:t>; a platform team makes the system sing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Early maturity default, allows for rapid progress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76827239"/>
                  </a:ext>
                </a:extLst>
              </a:tr>
              <a:tr h="914400">
                <a:tc>
                  <a:txBody>
                    <a:bodyPr/>
                    <a:lstStyle/>
                    <a:p>
                      <a:pPr>
                        <a:lnSpc>
                          <a:spcPct val="90000"/>
                        </a:lnSpc>
                      </a:pPr>
                      <a:r>
                        <a:rPr lang="en-US" sz="1400" b="1" dirty="0"/>
                        <a:t>Implementation Priority: </a:t>
                      </a:r>
                    </a:p>
                    <a:p>
                      <a:pPr>
                        <a:lnSpc>
                          <a:spcPct val="90000"/>
                        </a:lnSpc>
                      </a:pPr>
                      <a:r>
                        <a:rPr lang="en-US" sz="1400" dirty="0"/>
                        <a:t>The COE manages delivery, priority and governance, while a few teams manage the platform and the execution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Allows for greater agility in accomplishing multiple initiatives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66548700"/>
                  </a:ext>
                </a:extLst>
              </a:tr>
              <a:tr h="731520">
                <a:tc>
                  <a:txBody>
                    <a:bodyPr/>
                    <a:lstStyle/>
                    <a:p>
                      <a:pPr>
                        <a:lnSpc>
                          <a:spcPct val="90000"/>
                        </a:lnSpc>
                      </a:pPr>
                      <a:r>
                        <a:rPr lang="en-US" sz="1400" b="1"/>
                        <a:t>Order Taker: </a:t>
                      </a:r>
                    </a:p>
                    <a:p>
                      <a:pPr>
                        <a:lnSpc>
                          <a:spcPct val="90000"/>
                        </a:lnSpc>
                      </a:pPr>
                      <a:r>
                        <a:rPr lang="en-US" sz="1400"/>
                        <a:t>IT AI team accepts requests, builds solutions, and returns them in a conventional project model.</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AI as one more IT offering – where IT’s role is as a tactical enabler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93470232"/>
                  </a:ext>
                </a:extLst>
              </a:tr>
              <a:tr h="914400">
                <a:tc>
                  <a:txBody>
                    <a:bodyPr/>
                    <a:lstStyle/>
                    <a:p>
                      <a:pPr>
                        <a:lnSpc>
                          <a:spcPct val="90000"/>
                        </a:lnSpc>
                      </a:pPr>
                      <a:r>
                        <a:rPr lang="en-US" sz="1400" b="1" dirty="0"/>
                        <a:t>Unmanaged: </a:t>
                      </a:r>
                    </a:p>
                    <a:p>
                      <a:pPr>
                        <a:lnSpc>
                          <a:spcPct val="90000"/>
                        </a:lnSpc>
                      </a:pPr>
                      <a:r>
                        <a:rPr lang="en-US" sz="1400" dirty="0"/>
                        <a:t>Individual departments or regions hire AI talent and construct or buy to move as fast as possible, accepting the risk of fragmentation.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For widely distributed organizations with no intention for a unified strategy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32133476"/>
                  </a:ext>
                </a:extLst>
              </a:tr>
            </a:tbl>
          </a:graphicData>
        </a:graphic>
      </p:graphicFrame>
      <p:cxnSp>
        <p:nvCxnSpPr>
          <p:cNvPr id="10" name="Straight Connector 9">
            <a:extLst>
              <a:ext uri="{FF2B5EF4-FFF2-40B4-BE49-F238E27FC236}">
                <a16:creationId xmlns:a16="http://schemas.microsoft.com/office/drawing/2014/main" id="{BB633240-354F-9BD6-93CB-D421E6C1AF2B}"/>
              </a:ext>
            </a:extLst>
          </p:cNvPr>
          <p:cNvCxnSpPr/>
          <p:nvPr/>
        </p:nvCxnSpPr>
        <p:spPr>
          <a:xfrm>
            <a:off x="8826221" y="1527048"/>
            <a:ext cx="0" cy="4507992"/>
          </a:xfrm>
          <a:prstGeom prst="line">
            <a:avLst/>
          </a:prstGeom>
          <a:noFill/>
          <a:ln w="19050" cap="flat" cmpd="sng">
            <a:solidFill>
              <a:srgbClr val="707996"/>
            </a:solidFill>
            <a:prstDash val="solid"/>
            <a:round/>
            <a:headEnd type="none" w="lg" len="med"/>
            <a:tailEnd type="none" w="lg" len="med"/>
          </a:ln>
        </p:spPr>
      </p:cxnSp>
      <p:sp>
        <p:nvSpPr>
          <p:cNvPr id="11" name="Content Placeholder 3">
            <a:extLst>
              <a:ext uri="{FF2B5EF4-FFF2-40B4-BE49-F238E27FC236}">
                <a16:creationId xmlns:a16="http://schemas.microsoft.com/office/drawing/2014/main" id="{266813FE-6522-F4CD-7F23-69605FFEC810}"/>
              </a:ext>
            </a:extLst>
          </p:cNvPr>
          <p:cNvSpPr txBox="1">
            <a:spLocks/>
          </p:cNvSpPr>
          <p:nvPr/>
        </p:nvSpPr>
        <p:spPr>
          <a:xfrm>
            <a:off x="8964390" y="1872840"/>
            <a:ext cx="2827495" cy="3812345"/>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Gartner Sans"/>
                <a:ea typeface="+mn-ea"/>
                <a:cs typeface="+mn-cs"/>
              </a:rPr>
              <a:t>Customization Considerations:</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Does the charter lean toward telling or coaxing good behavior?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Assigned AI Leadership roles (e.g. CAIO, CIO, CTO, CDAO, new role)</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Regions, departments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Initial vs. future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Indicate where budget authority resides </a:t>
            </a:r>
          </a:p>
        </p:txBody>
      </p:sp>
    </p:spTree>
    <p:extLst>
      <p:ext uri="{BB962C8B-B14F-4D97-AF65-F5344CB8AC3E}">
        <p14:creationId xmlns:p14="http://schemas.microsoft.com/office/powerpoint/2010/main" val="1129901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2AB29-08A3-A0A2-A8D3-54A8284AE0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575C03-F59F-FEE4-3DAA-D88C39843D1C}"/>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18C98CC8-44C4-91B4-2588-0C9F0D9BDC79}"/>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A27FEE97-B5A3-E040-47BD-3B20B9DA239B}"/>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B35B5866-9008-F354-A3C3-A3FDEE63C0C5}"/>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C0B80A07-1AB4-8BB1-14D3-16693EF57630}"/>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B710FC41-1DA2-3B60-3EF7-22B0A487E056}"/>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DE28FD67-E2C6-AA53-6F65-28FF45CD4349}"/>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8D202103-69E7-B94B-7120-6A3D9C5842C2}"/>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ABD8A3B0-04A5-49AC-1C8D-75FEB91C41D9}"/>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D22CA850-A820-163D-4F23-4769835E03BE}"/>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CBEB11AE-B056-F418-6796-E7D66385EA81}"/>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403F0CEE-44FD-8420-BFEE-5AFBC43C485E}"/>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07A05239-C2CF-2F78-5065-9CB49838B11F}"/>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Empowerment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Augmentation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Embedding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Automation </a:t>
            </a:r>
          </a:p>
        </p:txBody>
      </p:sp>
      <p:sp>
        <p:nvSpPr>
          <p:cNvPr id="32" name="Rectangle 31">
            <a:extLst>
              <a:ext uri="{FF2B5EF4-FFF2-40B4-BE49-F238E27FC236}">
                <a16:creationId xmlns:a16="http://schemas.microsoft.com/office/drawing/2014/main" id="{0D2B0E6A-BAA4-6BA8-B103-2C29B7FA4FDC}"/>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0AA137DE-451C-48CE-0EAF-53A475F25700}"/>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Where to start and where to evolve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Which approach for which departments</a:t>
            </a:r>
          </a:p>
        </p:txBody>
      </p:sp>
      <p:sp>
        <p:nvSpPr>
          <p:cNvPr id="34" name="TextBox 33">
            <a:extLst>
              <a:ext uri="{FF2B5EF4-FFF2-40B4-BE49-F238E27FC236}">
                <a16:creationId xmlns:a16="http://schemas.microsoft.com/office/drawing/2014/main" id="{CF08C739-EFD4-3B14-741C-10C6966F59F9}"/>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D9AA531F-B567-6CBB-FD1B-97EBBF498AB2}"/>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6" name="TextBox 35">
            <a:extLst>
              <a:ext uri="{FF2B5EF4-FFF2-40B4-BE49-F238E27FC236}">
                <a16:creationId xmlns:a16="http://schemas.microsoft.com/office/drawing/2014/main" id="{6C7CD801-AC63-8DF1-AE7D-E89A8F60D242}"/>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t"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Buy-preferred: AI that comes embedded or off-the-shelf</a:t>
            </a: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Blend-preferred:  </a:t>
            </a:r>
            <a:r>
              <a:rPr kumimoji="0" lang="en-US" sz="800" b="0" i="0" u="none" strike="noStrike" kern="1200" cap="none" spc="0" normalizeH="0" baseline="0" noProof="0">
                <a:ln>
                  <a:noFill/>
                </a:ln>
                <a:solidFill>
                  <a:srgbClr val="000000"/>
                </a:solidFill>
                <a:effectLst/>
                <a:uLnTx/>
                <a:uFillTx/>
                <a:latin typeface="Gartner Sans"/>
                <a:ea typeface="+mn-ea"/>
                <a:cs typeface="+mn-cs"/>
              </a:rPr>
              <a:t>public models plus secure "wrappers" and interfaces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Build-first:  </a:t>
            </a:r>
            <a:r>
              <a:rPr kumimoji="0" lang="en-US" sz="800" b="0" i="0" u="none" strike="noStrike" kern="1200" cap="none" spc="0" normalizeH="0" baseline="0" noProof="0">
                <a:ln>
                  <a:noFill/>
                </a:ln>
                <a:solidFill>
                  <a:srgbClr val="000000"/>
                </a:solidFill>
                <a:effectLst/>
                <a:uLnTx/>
                <a:uFillTx/>
                <a:latin typeface="Gartner Sans"/>
                <a:ea typeface="+mn-ea"/>
                <a:cs typeface="+mn-cs"/>
              </a:rPr>
              <a:t>We build bespoke models from scratch when we can to meet specific needs, security or compliance</a:t>
            </a:r>
          </a:p>
        </p:txBody>
      </p:sp>
      <p:sp>
        <p:nvSpPr>
          <p:cNvPr id="37" name="Rectangle 36">
            <a:extLst>
              <a:ext uri="{FF2B5EF4-FFF2-40B4-BE49-F238E27FC236}">
                <a16:creationId xmlns:a16="http://schemas.microsoft.com/office/drawing/2014/main" id="{85B0B945-D764-D83E-8D15-70A858FF1EF0}"/>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506FA20D-4F8F-B04C-BA38-74750E5E3FD2}"/>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invest in skills for all AI development as it core, product, and we are AI-first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low-value projects retain high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high value projects and retain low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skills entirely </a:t>
            </a:r>
          </a:p>
        </p:txBody>
      </p:sp>
      <p:sp>
        <p:nvSpPr>
          <p:cNvPr id="39" name="TextBox 38">
            <a:extLst>
              <a:ext uri="{FF2B5EF4-FFF2-40B4-BE49-F238E27FC236}">
                <a16:creationId xmlns:a16="http://schemas.microsoft.com/office/drawing/2014/main" id="{E31B4FB6-FD00-8F57-3F90-734DEBB99C2D}"/>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1</a:t>
            </a:r>
          </a:p>
        </p:txBody>
      </p:sp>
      <p:sp>
        <p:nvSpPr>
          <p:cNvPr id="40" name="TextBox 39">
            <a:extLst>
              <a:ext uri="{FF2B5EF4-FFF2-40B4-BE49-F238E27FC236}">
                <a16:creationId xmlns:a16="http://schemas.microsoft.com/office/drawing/2014/main" id="{ABE7D9C5-1CD2-E3FD-2E93-0BD4B00E855A}"/>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2 </a:t>
            </a:r>
          </a:p>
        </p:txBody>
      </p:sp>
      <p:sp>
        <p:nvSpPr>
          <p:cNvPr id="41" name="TextBox 40">
            <a:extLst>
              <a:ext uri="{FF2B5EF4-FFF2-40B4-BE49-F238E27FC236}">
                <a16:creationId xmlns:a16="http://schemas.microsoft.com/office/drawing/2014/main" id="{A4F13C73-AD7A-1116-FB73-3DD34EC02642}"/>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Quick Matters Most: All Triage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Risk-Averse: Check Everything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Edge Ownership: Delegate Much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Innovate!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7DE43190-2E60-1384-F10B-3F6C63CDB9CB}"/>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0C303A29-31E9-4514-1FF9-DB9DC2EA49CA}"/>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5DEC719E-469F-BDCF-6D0A-6FE3C9CFF525}"/>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46" name="TextBox 45">
            <a:extLst>
              <a:ext uri="{FF2B5EF4-FFF2-40B4-BE49-F238E27FC236}">
                <a16:creationId xmlns:a16="http://schemas.microsoft.com/office/drawing/2014/main" id="{3ABBDCC4-0C02-59E9-B467-19E810FF4350}"/>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Deeply Structured</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Implementation Priority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Order Taker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Unmanaged (for now)  </a:t>
            </a:r>
          </a:p>
        </p:txBody>
      </p:sp>
      <p:sp>
        <p:nvSpPr>
          <p:cNvPr id="47" name="Rectangle 46">
            <a:extLst>
              <a:ext uri="{FF2B5EF4-FFF2-40B4-BE49-F238E27FC236}">
                <a16:creationId xmlns:a16="http://schemas.microsoft.com/office/drawing/2014/main" id="{053C0128-09FF-AA24-7703-5BD66968F9A1}"/>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67D733FF-9AC4-8F2E-0231-B24C19A77ABD}"/>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Does the charter enforce or coax good behavior?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Assigned AI Leadership roles (e.g. CAIO, CIO, CTO, CDAO, new role)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Regions, departments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Indicate where budget authority resides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Intended evolution direction </a:t>
            </a:r>
          </a:p>
        </p:txBody>
      </p:sp>
      <p:sp>
        <p:nvSpPr>
          <p:cNvPr id="49" name="TextBox 48">
            <a:extLst>
              <a:ext uri="{FF2B5EF4-FFF2-40B4-BE49-F238E27FC236}">
                <a16:creationId xmlns:a16="http://schemas.microsoft.com/office/drawing/2014/main" id="{F07AC875-AF17-6CA1-1B17-3D8B4F7BFB74}"/>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20A694D5-102B-9BE9-2252-27B4D649A45F}"/>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51" name="TextBox 50">
            <a:extLst>
              <a:ext uri="{FF2B5EF4-FFF2-40B4-BE49-F238E27FC236}">
                <a16:creationId xmlns:a16="http://schemas.microsoft.com/office/drawing/2014/main" id="{3FDE5027-5E97-A4F8-3216-51408CF51E0E}"/>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2" name="Rectangle 51">
            <a:extLst>
              <a:ext uri="{FF2B5EF4-FFF2-40B4-BE49-F238E27FC236}">
                <a16:creationId xmlns:a16="http://schemas.microsoft.com/office/drawing/2014/main" id="{4D44385C-A93A-A18B-10E5-378DA6F90068}"/>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9A5C7EEC-0222-85F4-89AE-C7942A5E2FB7}"/>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FFF">
                  <a:lumMod val="75000"/>
                </a:srgbClr>
              </a:solidFill>
              <a:effectLst/>
              <a:uLnTx/>
              <a:uFillTx/>
              <a:latin typeface="Gartner Sans"/>
              <a:ea typeface="+mn-ea"/>
              <a:cs typeface="+mn-cs"/>
            </a:endParaRPr>
          </a:p>
        </p:txBody>
      </p:sp>
      <p:sp>
        <p:nvSpPr>
          <p:cNvPr id="54" name="TextBox 53">
            <a:extLst>
              <a:ext uri="{FF2B5EF4-FFF2-40B4-BE49-F238E27FC236}">
                <a16:creationId xmlns:a16="http://schemas.microsoft.com/office/drawing/2014/main" id="{614054CF-D31C-35CD-3AA4-13D1891308DC}"/>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A6F6499F-1C3F-832E-DFE0-5F7460A83B80}"/>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Strategic Approaches</a:t>
            </a:r>
          </a:p>
        </p:txBody>
      </p:sp>
      <p:sp>
        <p:nvSpPr>
          <p:cNvPr id="4" name="TextBox 3">
            <a:extLst>
              <a:ext uri="{FF2B5EF4-FFF2-40B4-BE49-F238E27FC236}">
                <a16:creationId xmlns:a16="http://schemas.microsoft.com/office/drawing/2014/main" id="{F6190196-477F-1B28-AA1A-4F5C26AD46FD}"/>
              </a:ext>
            </a:extLst>
          </p:cNvPr>
          <p:cNvSpPr txBox="1">
            <a:spLocks/>
          </p:cNvSpPr>
          <p:nvPr/>
        </p:nvSpPr>
        <p:spPr>
          <a:xfrm>
            <a:off x="7075071" y="5278085"/>
            <a:ext cx="4051329" cy="387038"/>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 Yet </a:t>
            </a:r>
          </a:p>
        </p:txBody>
      </p:sp>
      <p:sp>
        <p:nvSpPr>
          <p:cNvPr id="6" name="TextBox 5">
            <a:extLst>
              <a:ext uri="{FF2B5EF4-FFF2-40B4-BE49-F238E27FC236}">
                <a16:creationId xmlns:a16="http://schemas.microsoft.com/office/drawing/2014/main" id="{42E96F10-C876-6538-285F-AB5F9BFBB7F8}"/>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TextBox 7">
            <a:extLst>
              <a:ext uri="{FF2B5EF4-FFF2-40B4-BE49-F238E27FC236}">
                <a16:creationId xmlns:a16="http://schemas.microsoft.com/office/drawing/2014/main" id="{18A376DB-574E-334B-6CCD-BDA6C9CE5699}"/>
              </a:ext>
            </a:extLst>
          </p:cNvPr>
          <p:cNvSpPr txBox="1">
            <a:spLocks/>
          </p:cNvSpPr>
          <p:nvPr/>
        </p:nvSpPr>
        <p:spPr>
          <a:xfrm>
            <a:off x="1119059" y="1877375"/>
            <a:ext cx="4051329" cy="3793698"/>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2" name="TextBox 1">
            <a:extLst>
              <a:ext uri="{FF2B5EF4-FFF2-40B4-BE49-F238E27FC236}">
                <a16:creationId xmlns:a16="http://schemas.microsoft.com/office/drawing/2014/main" id="{5E0FDDF7-F80B-CF57-2F69-A6B714437150}"/>
              </a:ext>
            </a:extLst>
          </p:cNvPr>
          <p:cNvSpPr txBox="1">
            <a:spLocks/>
          </p:cNvSpPr>
          <p:nvPr/>
        </p:nvSpPr>
        <p:spPr>
          <a:xfrm>
            <a:off x="9224396" y="1992490"/>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Who will own negative outcomes / address mistakes?</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Regional, departmental variations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Internal/external view</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RACI stringency </a:t>
            </a:r>
          </a:p>
        </p:txBody>
      </p:sp>
      <p:sp>
        <p:nvSpPr>
          <p:cNvPr id="9" name="TextBox 8">
            <a:extLst>
              <a:ext uri="{FF2B5EF4-FFF2-40B4-BE49-F238E27FC236}">
                <a16:creationId xmlns:a16="http://schemas.microsoft.com/office/drawing/2014/main" id="{EF67FD89-EC47-5D26-8477-00C5CA9FB0E3}"/>
              </a:ext>
            </a:extLst>
          </p:cNvPr>
          <p:cNvSpPr txBox="1">
            <a:spLocks/>
          </p:cNvSpPr>
          <p:nvPr/>
        </p:nvSpPr>
        <p:spPr>
          <a:xfrm>
            <a:off x="7011755" y="2076199"/>
            <a:ext cx="4051329" cy="708040"/>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10" name="Rectangle 9">
            <a:extLst>
              <a:ext uri="{FF2B5EF4-FFF2-40B4-BE49-F238E27FC236}">
                <a16:creationId xmlns:a16="http://schemas.microsoft.com/office/drawing/2014/main" id="{746D5C53-C279-1E34-4556-9F38EA3941E7}"/>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1" name="TextBox 10">
            <a:extLst>
              <a:ext uri="{FF2B5EF4-FFF2-40B4-BE49-F238E27FC236}">
                <a16:creationId xmlns:a16="http://schemas.microsoft.com/office/drawing/2014/main" id="{E7A98620-BD71-3924-C144-5A0A53CB86F3}"/>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3822721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158B7-6602-BC66-ABE8-6A307061F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66EAC-2F36-BD53-A977-805D380F8C10}"/>
              </a:ext>
            </a:extLst>
          </p:cNvPr>
          <p:cNvSpPr>
            <a:spLocks noGrp="1"/>
          </p:cNvSpPr>
          <p:nvPr>
            <p:ph type="title"/>
          </p:nvPr>
        </p:nvSpPr>
        <p:spPr/>
        <p:txBody>
          <a:bodyPr/>
          <a:lstStyle/>
          <a:p>
            <a:r>
              <a:rPr lang="en-US"/>
              <a:t>Step 7 of 7 - Data Sources  </a:t>
            </a:r>
          </a:p>
        </p:txBody>
      </p:sp>
      <p:graphicFrame>
        <p:nvGraphicFramePr>
          <p:cNvPr id="5" name="Table 4">
            <a:extLst>
              <a:ext uri="{FF2B5EF4-FFF2-40B4-BE49-F238E27FC236}">
                <a16:creationId xmlns:a16="http://schemas.microsoft.com/office/drawing/2014/main" id="{6B13FEDC-F845-A287-12ED-BE3B6E3DE0D7}"/>
              </a:ext>
            </a:extLst>
          </p:cNvPr>
          <p:cNvGraphicFramePr>
            <a:graphicFrameLocks noGrp="1"/>
          </p:cNvGraphicFramePr>
          <p:nvPr>
            <p:extLst>
              <p:ext uri="{D42A27DB-BD31-4B8C-83A1-F6EECF244321}">
                <p14:modId xmlns:p14="http://schemas.microsoft.com/office/powerpoint/2010/main" val="762817170"/>
              </p:ext>
            </p:extLst>
          </p:nvPr>
        </p:nvGraphicFramePr>
        <p:xfrm>
          <a:off x="457200" y="1527048"/>
          <a:ext cx="8266108" cy="4563872"/>
        </p:xfrm>
        <a:graphic>
          <a:graphicData uri="http://schemas.openxmlformats.org/drawingml/2006/table">
            <a:tbl>
              <a:tblPr firstRow="1" bandRow="1">
                <a:tableStyleId>{6E25E649-3F16-4E02-A733-19D2CDBF48F0}</a:tableStyleId>
              </a:tblPr>
              <a:tblGrid>
                <a:gridCol w="4133054">
                  <a:extLst>
                    <a:ext uri="{9D8B030D-6E8A-4147-A177-3AD203B41FA5}">
                      <a16:colId xmlns:a16="http://schemas.microsoft.com/office/drawing/2014/main" val="171226904"/>
                    </a:ext>
                  </a:extLst>
                </a:gridCol>
                <a:gridCol w="4133054">
                  <a:extLst>
                    <a:ext uri="{9D8B030D-6E8A-4147-A177-3AD203B41FA5}">
                      <a16:colId xmlns:a16="http://schemas.microsoft.com/office/drawing/2014/main" val="4149414635"/>
                    </a:ext>
                  </a:extLst>
                </a:gridCol>
              </a:tblGrid>
              <a:tr h="370840">
                <a:tc gridSpan="2">
                  <a:txBody>
                    <a:bodyPr/>
                    <a:lstStyle/>
                    <a:p>
                      <a:pPr>
                        <a:lnSpc>
                          <a:spcPct val="90000"/>
                        </a:lnSpc>
                      </a:pPr>
                      <a:r>
                        <a:rPr lang="en-US"/>
                        <a:t>How do you manage your organization's data assets in this process? (Pick 1)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868009005"/>
                  </a:ext>
                </a:extLst>
              </a:tr>
              <a:tr h="370840">
                <a:tc>
                  <a:txBody>
                    <a:bodyPr/>
                    <a:lstStyle/>
                    <a:p>
                      <a:pPr>
                        <a:lnSpc>
                          <a:spcPct val="90000"/>
                        </a:lnSpc>
                      </a:pPr>
                      <a:r>
                        <a:rPr lang="en-US" b="1"/>
                        <a:t>Decision to be made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tc>
                  <a:txBody>
                    <a:bodyPr/>
                    <a:lstStyle/>
                    <a:p>
                      <a:pPr>
                        <a:lnSpc>
                          <a:spcPct val="90000"/>
                        </a:lnSpc>
                      </a:pPr>
                      <a:r>
                        <a:rPr lang="en-US" b="1"/>
                        <a:t>Rationale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8DEFF"/>
                    </a:solidFill>
                  </a:tcPr>
                </a:tc>
                <a:extLst>
                  <a:ext uri="{0D108BD9-81ED-4DB2-BD59-A6C34878D82A}">
                    <a16:rowId xmlns:a16="http://schemas.microsoft.com/office/drawing/2014/main" val="2108163499"/>
                  </a:ext>
                </a:extLst>
              </a:tr>
              <a:tr h="370840">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a:t>Wait-and-See: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a:t>Data decisions are deferred until AI demand forces them. We rely on commercial vendor products.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The organization is intentionally postponing the work of understanding and qualifying its data, accepting uncertainty in exchange for speed and lower upfront effort.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76827239"/>
                  </a:ext>
                </a:extLst>
              </a:tr>
              <a:tr h="370840">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a:t>Ad Hoc: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a:t>Data management is uneven but good enough. We use public models but layer in security to use internal data in the answers.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Focuses on improving the organization’s ability to answer, over time, “What data do we have, and can we use it?” without committing data work exclusively to defined AI use cases.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66548700"/>
                  </a:ext>
                </a:extLst>
              </a:tr>
              <a:tr h="370840">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err="1"/>
                        <a:t>Supercaution</a:t>
                      </a:r>
                      <a:r>
                        <a:rPr lang="en-US" sz="1400" b="1"/>
                        <a:t>: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a:t>We will only use AI if we can bring the work entirely inside our own secure firewalls; our data management is robust and dependable.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a:t>Prioritizes risk containment and control over data reuse and shareability. AI development occurs within narrowly defined boundaries, which limits cross‑use of data.</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93470232"/>
                  </a:ext>
                </a:extLst>
              </a:tr>
              <a:tr h="370840">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a:t>AI-Centric: </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1400"/>
                        <a:t>Data management is highly robust. We base our product value on data we gather from customers and in operations. We train custom models on our unique data because it beats competitors using generic tools.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nSpc>
                          <a:spcPct val="90000"/>
                        </a:lnSpc>
                      </a:pPr>
                      <a:r>
                        <a:rPr lang="en-US" dirty="0"/>
                        <a:t>Emphasizes contextual delivery of data based on deep understanding of what the data is, how it can be used, and under what conditions—without requiring predefined use cases.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32133476"/>
                  </a:ext>
                </a:extLst>
              </a:tr>
            </a:tbl>
          </a:graphicData>
        </a:graphic>
      </p:graphicFrame>
      <p:cxnSp>
        <p:nvCxnSpPr>
          <p:cNvPr id="3" name="Straight Connector 2">
            <a:extLst>
              <a:ext uri="{FF2B5EF4-FFF2-40B4-BE49-F238E27FC236}">
                <a16:creationId xmlns:a16="http://schemas.microsoft.com/office/drawing/2014/main" id="{DDFDB867-F12C-142A-3F44-0BADB7471C61}"/>
              </a:ext>
            </a:extLst>
          </p:cNvPr>
          <p:cNvCxnSpPr>
            <a:cxnSpLocks/>
          </p:cNvCxnSpPr>
          <p:nvPr/>
        </p:nvCxnSpPr>
        <p:spPr>
          <a:xfrm>
            <a:off x="8826221" y="1528064"/>
            <a:ext cx="0" cy="4562856"/>
          </a:xfrm>
          <a:prstGeom prst="line">
            <a:avLst/>
          </a:prstGeom>
          <a:noFill/>
          <a:ln w="19050" cap="flat" cmpd="sng">
            <a:solidFill>
              <a:srgbClr val="707996"/>
            </a:solidFill>
            <a:prstDash val="solid"/>
            <a:round/>
            <a:headEnd type="none" w="lg" len="med"/>
            <a:tailEnd type="none" w="lg" len="med"/>
          </a:ln>
        </p:spPr>
      </p:cxnSp>
      <p:sp>
        <p:nvSpPr>
          <p:cNvPr id="6" name="Content Placeholder 3">
            <a:extLst>
              <a:ext uri="{FF2B5EF4-FFF2-40B4-BE49-F238E27FC236}">
                <a16:creationId xmlns:a16="http://schemas.microsoft.com/office/drawing/2014/main" id="{AB566A1E-E33D-FFBD-30FB-E9DF1ED7577B}"/>
              </a:ext>
            </a:extLst>
          </p:cNvPr>
          <p:cNvSpPr txBox="1">
            <a:spLocks/>
          </p:cNvSpPr>
          <p:nvPr/>
        </p:nvSpPr>
        <p:spPr>
          <a:xfrm>
            <a:off x="8964390" y="1902812"/>
            <a:ext cx="2827495" cy="3812345"/>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Gartner Sans"/>
                <a:ea typeface="+mn-ea"/>
                <a:cs typeface="+mn-cs"/>
              </a:rPr>
              <a:t>Customization Considerations:</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Describe investments in data availability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Indicate future direction in data accessibility </a:t>
            </a:r>
          </a:p>
          <a:p>
            <a:pPr marL="228600" marR="0" lvl="0" indent="-228600" algn="l" defTabSz="914400" rtl="0" eaLnBrk="1" fontAlgn="auto" latinLnBrk="0" hangingPunct="1">
              <a:lnSpc>
                <a:spcPct val="100000"/>
              </a:lnSpc>
              <a:spcBef>
                <a:spcPts val="1200"/>
              </a:spcBef>
              <a:spcAft>
                <a:spcPts val="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artner Sans"/>
                <a:ea typeface="+mn-ea"/>
                <a:cs typeface="+mn-cs"/>
              </a:rPr>
              <a:t>Describe intended data governance policy evolution </a:t>
            </a:r>
          </a:p>
        </p:txBody>
      </p:sp>
    </p:spTree>
    <p:extLst>
      <p:ext uri="{BB962C8B-B14F-4D97-AF65-F5344CB8AC3E}">
        <p14:creationId xmlns:p14="http://schemas.microsoft.com/office/powerpoint/2010/main" val="4000269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9BAAF-6C2A-9A60-864D-B6EDB52B65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26875C-F5A2-7D4C-8A96-859604AE7775}"/>
              </a:ext>
            </a:extLst>
          </p:cNvPr>
          <p:cNvSpPr>
            <a:spLocks noGrp="1"/>
          </p:cNvSpPr>
          <p:nvPr>
            <p:ph type="title"/>
          </p:nvPr>
        </p:nvSpPr>
        <p:spPr/>
        <p:txBody>
          <a:bodyPr/>
          <a:lstStyle/>
          <a:p>
            <a:r>
              <a:rPr lang="en-US"/>
              <a:t>AI Strategy Title</a:t>
            </a:r>
          </a:p>
        </p:txBody>
      </p:sp>
      <p:sp>
        <p:nvSpPr>
          <p:cNvPr id="7" name="Rectangle 6">
            <a:extLst>
              <a:ext uri="{FF2B5EF4-FFF2-40B4-BE49-F238E27FC236}">
                <a16:creationId xmlns:a16="http://schemas.microsoft.com/office/drawing/2014/main" id="{8ACD517E-2E25-3CB6-C428-480F54A3D0F2}"/>
              </a:ext>
            </a:extLst>
          </p:cNvPr>
          <p:cNvSpPr/>
          <p:nvPr/>
        </p:nvSpPr>
        <p:spPr>
          <a:xfrm>
            <a:off x="372219" y="1393372"/>
            <a:ext cx="5491552" cy="14873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4" name="TextBox 13">
            <a:extLst>
              <a:ext uri="{FF2B5EF4-FFF2-40B4-BE49-F238E27FC236}">
                <a16:creationId xmlns:a16="http://schemas.microsoft.com/office/drawing/2014/main" id="{D3A1B072-42D9-7E57-B584-14C4E80A5FC9}"/>
              </a:ext>
            </a:extLst>
          </p:cNvPr>
          <p:cNvSpPr txBox="1"/>
          <p:nvPr/>
        </p:nvSpPr>
        <p:spPr>
          <a:xfrm>
            <a:off x="456253" y="1413414"/>
            <a:ext cx="1589314"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Value</a:t>
            </a:r>
          </a:p>
        </p:txBody>
      </p:sp>
      <p:sp>
        <p:nvSpPr>
          <p:cNvPr id="15" name="TextBox 14">
            <a:extLst>
              <a:ext uri="{FF2B5EF4-FFF2-40B4-BE49-F238E27FC236}">
                <a16:creationId xmlns:a16="http://schemas.microsoft.com/office/drawing/2014/main" id="{DAF152D2-B175-97D3-A1E6-C327BC12793D}"/>
              </a:ext>
            </a:extLst>
          </p:cNvPr>
          <p:cNvSpPr txBox="1"/>
          <p:nvPr/>
        </p:nvSpPr>
        <p:spPr>
          <a:xfrm>
            <a:off x="456252" y="2969060"/>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People and Culture</a:t>
            </a:r>
          </a:p>
        </p:txBody>
      </p:sp>
      <p:sp>
        <p:nvSpPr>
          <p:cNvPr id="16" name="TextBox 15">
            <a:extLst>
              <a:ext uri="{FF2B5EF4-FFF2-40B4-BE49-F238E27FC236}">
                <a16:creationId xmlns:a16="http://schemas.microsoft.com/office/drawing/2014/main" id="{B1CB8ECE-6D04-C1B1-FBAC-CE4BC91AAAC6}"/>
              </a:ext>
            </a:extLst>
          </p:cNvPr>
          <p:cNvSpPr txBox="1"/>
          <p:nvPr/>
        </p:nvSpPr>
        <p:spPr>
          <a:xfrm>
            <a:off x="456252" y="4543869"/>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Engineering</a:t>
            </a:r>
          </a:p>
        </p:txBody>
      </p:sp>
      <p:sp>
        <p:nvSpPr>
          <p:cNvPr id="17" name="TextBox 16">
            <a:extLst>
              <a:ext uri="{FF2B5EF4-FFF2-40B4-BE49-F238E27FC236}">
                <a16:creationId xmlns:a16="http://schemas.microsoft.com/office/drawing/2014/main" id="{A36722CE-467E-7C7B-F3DE-CED73CE41A12}"/>
              </a:ext>
            </a:extLst>
          </p:cNvPr>
          <p:cNvSpPr txBox="1"/>
          <p:nvPr/>
        </p:nvSpPr>
        <p:spPr>
          <a:xfrm>
            <a:off x="6443397" y="1399792"/>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Governance</a:t>
            </a:r>
          </a:p>
        </p:txBody>
      </p:sp>
      <p:sp>
        <p:nvSpPr>
          <p:cNvPr id="19" name="TextBox 18">
            <a:extLst>
              <a:ext uri="{FF2B5EF4-FFF2-40B4-BE49-F238E27FC236}">
                <a16:creationId xmlns:a16="http://schemas.microsoft.com/office/drawing/2014/main" id="{3BFF2BC3-55FE-0B9E-4430-4C853912CD94}"/>
              </a:ext>
            </a:extLst>
          </p:cNvPr>
          <p:cNvSpPr txBox="1"/>
          <p:nvPr/>
        </p:nvSpPr>
        <p:spPr>
          <a:xfrm>
            <a:off x="6443397" y="4558383"/>
            <a:ext cx="1793461"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E36135"/>
                </a:solidFill>
                <a:effectLst/>
                <a:uLnTx/>
                <a:uFillTx/>
                <a:latin typeface="Gartner Sans"/>
                <a:ea typeface="+mn-ea"/>
                <a:cs typeface="+mn-cs"/>
              </a:rPr>
              <a:t>Data</a:t>
            </a:r>
          </a:p>
        </p:txBody>
      </p:sp>
      <p:sp>
        <p:nvSpPr>
          <p:cNvPr id="21" name="TextBox 20">
            <a:extLst>
              <a:ext uri="{FF2B5EF4-FFF2-40B4-BE49-F238E27FC236}">
                <a16:creationId xmlns:a16="http://schemas.microsoft.com/office/drawing/2014/main" id="{F69C6F98-AB9E-6590-ACB6-2EFB72E4E2BE}"/>
              </a:ext>
            </a:extLst>
          </p:cNvPr>
          <p:cNvSpPr txBox="1">
            <a:spLocks/>
          </p:cNvSpPr>
          <p:nvPr/>
        </p:nvSpPr>
        <p:spPr>
          <a:xfrm>
            <a:off x="470321" y="199398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Cut costs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Grow Revenue</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Optimize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Reduce Risk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27" name="Rectangle 26">
            <a:extLst>
              <a:ext uri="{FF2B5EF4-FFF2-40B4-BE49-F238E27FC236}">
                <a16:creationId xmlns:a16="http://schemas.microsoft.com/office/drawing/2014/main" id="{C6229287-193E-586C-5B81-B05DA8FC7506}"/>
              </a:ext>
            </a:extLst>
          </p:cNvPr>
          <p:cNvSpPr/>
          <p:nvPr/>
        </p:nvSpPr>
        <p:spPr>
          <a:xfrm>
            <a:off x="369169" y="1719869"/>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28" name="TextBox 27">
            <a:extLst>
              <a:ext uri="{FF2B5EF4-FFF2-40B4-BE49-F238E27FC236}">
                <a16:creationId xmlns:a16="http://schemas.microsoft.com/office/drawing/2014/main" id="{3848F35A-9962-23DD-3856-D1C89C3228C8}"/>
              </a:ext>
            </a:extLst>
          </p:cNvPr>
          <p:cNvSpPr txBox="1">
            <a:spLocks/>
          </p:cNvSpPr>
          <p:nvPr/>
        </p:nvSpPr>
        <p:spPr>
          <a:xfrm>
            <a:off x="3174080" y="2003958"/>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Note priority and intended additions  </a:t>
            </a:r>
          </a:p>
        </p:txBody>
      </p:sp>
      <p:sp>
        <p:nvSpPr>
          <p:cNvPr id="29" name="TextBox 28">
            <a:extLst>
              <a:ext uri="{FF2B5EF4-FFF2-40B4-BE49-F238E27FC236}">
                <a16:creationId xmlns:a16="http://schemas.microsoft.com/office/drawing/2014/main" id="{0171CBF1-1327-17FF-E7E1-35070D1D6301}"/>
              </a:ext>
            </a:extLst>
          </p:cNvPr>
          <p:cNvSpPr txBox="1"/>
          <p:nvPr/>
        </p:nvSpPr>
        <p:spPr>
          <a:xfrm>
            <a:off x="467271" y="1733937"/>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0" name="TextBox 29">
            <a:extLst>
              <a:ext uri="{FF2B5EF4-FFF2-40B4-BE49-F238E27FC236}">
                <a16:creationId xmlns:a16="http://schemas.microsoft.com/office/drawing/2014/main" id="{F6F7EC2D-152D-270A-DB7D-74CF3CE8A204}"/>
              </a:ext>
            </a:extLst>
          </p:cNvPr>
          <p:cNvSpPr txBox="1"/>
          <p:nvPr/>
        </p:nvSpPr>
        <p:spPr>
          <a:xfrm>
            <a:off x="3184595" y="1731898"/>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1" name="TextBox 30">
            <a:extLst>
              <a:ext uri="{FF2B5EF4-FFF2-40B4-BE49-F238E27FC236}">
                <a16:creationId xmlns:a16="http://schemas.microsoft.com/office/drawing/2014/main" id="{33CAA734-A446-3CEF-FD00-94B11CEB438D}"/>
              </a:ext>
            </a:extLst>
          </p:cNvPr>
          <p:cNvSpPr txBox="1">
            <a:spLocks/>
          </p:cNvSpPr>
          <p:nvPr/>
        </p:nvSpPr>
        <p:spPr>
          <a:xfrm>
            <a:off x="482042" y="3581294"/>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Empowerment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Augmentation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Embedding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FFFFFF">
                    <a:lumMod val="75000"/>
                  </a:srgbClr>
                </a:solidFill>
                <a:effectLst/>
                <a:uLnTx/>
                <a:uFillTx/>
                <a:latin typeface="Gartner Sans"/>
                <a:ea typeface="+mn-ea"/>
                <a:cs typeface="+mn-cs"/>
              </a:rPr>
              <a:t>Automation </a:t>
            </a:r>
          </a:p>
        </p:txBody>
      </p:sp>
      <p:sp>
        <p:nvSpPr>
          <p:cNvPr id="32" name="Rectangle 31">
            <a:extLst>
              <a:ext uri="{FF2B5EF4-FFF2-40B4-BE49-F238E27FC236}">
                <a16:creationId xmlns:a16="http://schemas.microsoft.com/office/drawing/2014/main" id="{BDFE9F20-1D1A-C7F1-B715-9E232217B1E0}"/>
              </a:ext>
            </a:extLst>
          </p:cNvPr>
          <p:cNvSpPr/>
          <p:nvPr/>
        </p:nvSpPr>
        <p:spPr>
          <a:xfrm>
            <a:off x="366822" y="3307174"/>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3" name="TextBox 32">
            <a:extLst>
              <a:ext uri="{FF2B5EF4-FFF2-40B4-BE49-F238E27FC236}">
                <a16:creationId xmlns:a16="http://schemas.microsoft.com/office/drawing/2014/main" id="{49193741-73DF-043B-D595-FFF84CF3333B}"/>
              </a:ext>
            </a:extLst>
          </p:cNvPr>
          <p:cNvSpPr txBox="1">
            <a:spLocks/>
          </p:cNvSpPr>
          <p:nvPr/>
        </p:nvSpPr>
        <p:spPr>
          <a:xfrm>
            <a:off x="3185801" y="3591263"/>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Where to start and where to evolve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Which approach for which departments</a:t>
            </a:r>
          </a:p>
        </p:txBody>
      </p:sp>
      <p:sp>
        <p:nvSpPr>
          <p:cNvPr id="34" name="TextBox 33">
            <a:extLst>
              <a:ext uri="{FF2B5EF4-FFF2-40B4-BE49-F238E27FC236}">
                <a16:creationId xmlns:a16="http://schemas.microsoft.com/office/drawing/2014/main" id="{C1588D7F-52AD-3294-5B49-176036409F79}"/>
              </a:ext>
            </a:extLst>
          </p:cNvPr>
          <p:cNvSpPr txBox="1"/>
          <p:nvPr/>
        </p:nvSpPr>
        <p:spPr>
          <a:xfrm>
            <a:off x="478992" y="332124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35" name="TextBox 34">
            <a:extLst>
              <a:ext uri="{FF2B5EF4-FFF2-40B4-BE49-F238E27FC236}">
                <a16:creationId xmlns:a16="http://schemas.microsoft.com/office/drawing/2014/main" id="{2B3CF56B-46E2-AC43-A018-56BCE2A73072}"/>
              </a:ext>
            </a:extLst>
          </p:cNvPr>
          <p:cNvSpPr txBox="1"/>
          <p:nvPr/>
        </p:nvSpPr>
        <p:spPr>
          <a:xfrm>
            <a:off x="3196316" y="3319203"/>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36" name="TextBox 35">
            <a:extLst>
              <a:ext uri="{FF2B5EF4-FFF2-40B4-BE49-F238E27FC236}">
                <a16:creationId xmlns:a16="http://schemas.microsoft.com/office/drawing/2014/main" id="{B903ECC8-0D54-E013-5E00-56775A83D41C}"/>
              </a:ext>
            </a:extLst>
          </p:cNvPr>
          <p:cNvSpPr txBox="1">
            <a:spLocks/>
          </p:cNvSpPr>
          <p:nvPr/>
        </p:nvSpPr>
        <p:spPr>
          <a:xfrm>
            <a:off x="493764" y="5154532"/>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t"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Buy-preferred: AI that comes embedded or off-the-shelf</a:t>
            </a: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Blend-preferred:  </a:t>
            </a:r>
            <a:r>
              <a:rPr kumimoji="0" lang="en-US" sz="800" b="0" i="0" u="none" strike="noStrike" kern="1200" cap="none" spc="0" normalizeH="0" baseline="0" noProof="0">
                <a:ln>
                  <a:noFill/>
                </a:ln>
                <a:solidFill>
                  <a:srgbClr val="000000"/>
                </a:solidFill>
                <a:effectLst/>
                <a:uLnTx/>
                <a:uFillTx/>
                <a:latin typeface="Gartner Sans"/>
                <a:ea typeface="+mn-ea"/>
                <a:cs typeface="+mn-cs"/>
              </a:rPr>
              <a:t>public models plus secure "wrappers" and interfaces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Gartner Sans"/>
                <a:ea typeface="+mn-ea"/>
                <a:cs typeface="+mn-cs"/>
              </a:rPr>
              <a:t>Build-first:  </a:t>
            </a:r>
            <a:r>
              <a:rPr kumimoji="0" lang="en-US" sz="800" b="0" i="0" u="none" strike="noStrike" kern="1200" cap="none" spc="0" normalizeH="0" baseline="0" noProof="0">
                <a:ln>
                  <a:noFill/>
                </a:ln>
                <a:solidFill>
                  <a:srgbClr val="000000"/>
                </a:solidFill>
                <a:effectLst/>
                <a:uLnTx/>
                <a:uFillTx/>
                <a:latin typeface="Gartner Sans"/>
                <a:ea typeface="+mn-ea"/>
                <a:cs typeface="+mn-cs"/>
              </a:rPr>
              <a:t>We build bespoke models from scratch when we can to meet specific needs, security or compliance</a:t>
            </a:r>
          </a:p>
        </p:txBody>
      </p:sp>
      <p:sp>
        <p:nvSpPr>
          <p:cNvPr id="37" name="Rectangle 36">
            <a:extLst>
              <a:ext uri="{FF2B5EF4-FFF2-40B4-BE49-F238E27FC236}">
                <a16:creationId xmlns:a16="http://schemas.microsoft.com/office/drawing/2014/main" id="{6A60B6D0-7196-5618-D6EC-8F8126A5F842}"/>
              </a:ext>
            </a:extLst>
          </p:cNvPr>
          <p:cNvSpPr/>
          <p:nvPr/>
        </p:nvSpPr>
        <p:spPr>
          <a:xfrm>
            <a:off x="364476" y="4880412"/>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38" name="TextBox 37">
            <a:extLst>
              <a:ext uri="{FF2B5EF4-FFF2-40B4-BE49-F238E27FC236}">
                <a16:creationId xmlns:a16="http://schemas.microsoft.com/office/drawing/2014/main" id="{B859EA1F-C7DD-E8C6-6963-809C42BDD580}"/>
              </a:ext>
            </a:extLst>
          </p:cNvPr>
          <p:cNvSpPr txBox="1">
            <a:spLocks/>
          </p:cNvSpPr>
          <p:nvPr/>
        </p:nvSpPr>
        <p:spPr>
          <a:xfrm>
            <a:off x="3197523" y="5164501"/>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invest in skills for all AI development as it core, product, and we are AI-first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low-value projects retain high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high value projects and retain low value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We outsource for skills entirely </a:t>
            </a:r>
          </a:p>
        </p:txBody>
      </p:sp>
      <p:sp>
        <p:nvSpPr>
          <p:cNvPr id="39" name="TextBox 38">
            <a:extLst>
              <a:ext uri="{FF2B5EF4-FFF2-40B4-BE49-F238E27FC236}">
                <a16:creationId xmlns:a16="http://schemas.microsoft.com/office/drawing/2014/main" id="{165498EB-2117-8E48-14BA-5AE312A00958}"/>
              </a:ext>
            </a:extLst>
          </p:cNvPr>
          <p:cNvSpPr txBox="1"/>
          <p:nvPr/>
        </p:nvSpPr>
        <p:spPr>
          <a:xfrm>
            <a:off x="490714" y="489448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1</a:t>
            </a:r>
          </a:p>
        </p:txBody>
      </p:sp>
      <p:sp>
        <p:nvSpPr>
          <p:cNvPr id="40" name="TextBox 39">
            <a:extLst>
              <a:ext uri="{FF2B5EF4-FFF2-40B4-BE49-F238E27FC236}">
                <a16:creationId xmlns:a16="http://schemas.microsoft.com/office/drawing/2014/main" id="{AE768CE0-F8E1-8AC7-DBF0-6C91B72FB4EA}"/>
              </a:ext>
            </a:extLst>
          </p:cNvPr>
          <p:cNvSpPr txBox="1"/>
          <p:nvPr/>
        </p:nvSpPr>
        <p:spPr>
          <a:xfrm>
            <a:off x="3208038" y="489244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 2 </a:t>
            </a:r>
          </a:p>
        </p:txBody>
      </p:sp>
      <p:sp>
        <p:nvSpPr>
          <p:cNvPr id="41" name="TextBox 40">
            <a:extLst>
              <a:ext uri="{FF2B5EF4-FFF2-40B4-BE49-F238E27FC236}">
                <a16:creationId xmlns:a16="http://schemas.microsoft.com/office/drawing/2014/main" id="{0667B4C3-78EB-9BBE-140D-4C64B5C11EEC}"/>
              </a:ext>
            </a:extLst>
          </p:cNvPr>
          <p:cNvSpPr txBox="1">
            <a:spLocks/>
          </p:cNvSpPr>
          <p:nvPr/>
        </p:nvSpPr>
        <p:spPr>
          <a:xfrm>
            <a:off x="6454469" y="2000967"/>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Quick Matters Most: All Triage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Risk-Averse: Check Everything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Edge Ownership: Delegate Much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Innovate!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42" name="Rectangle 41">
            <a:extLst>
              <a:ext uri="{FF2B5EF4-FFF2-40B4-BE49-F238E27FC236}">
                <a16:creationId xmlns:a16="http://schemas.microsoft.com/office/drawing/2014/main" id="{EC7F634D-1514-7516-F5A6-6249CF8244F5}"/>
              </a:ext>
            </a:extLst>
          </p:cNvPr>
          <p:cNvSpPr/>
          <p:nvPr/>
        </p:nvSpPr>
        <p:spPr>
          <a:xfrm>
            <a:off x="6325181" y="1726847"/>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4" name="TextBox 43">
            <a:extLst>
              <a:ext uri="{FF2B5EF4-FFF2-40B4-BE49-F238E27FC236}">
                <a16:creationId xmlns:a16="http://schemas.microsoft.com/office/drawing/2014/main" id="{F42EA931-6D8E-0D52-EEB7-CBB51484426F}"/>
              </a:ext>
            </a:extLst>
          </p:cNvPr>
          <p:cNvSpPr txBox="1"/>
          <p:nvPr/>
        </p:nvSpPr>
        <p:spPr>
          <a:xfrm>
            <a:off x="6451419" y="1740915"/>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45" name="TextBox 44">
            <a:extLst>
              <a:ext uri="{FF2B5EF4-FFF2-40B4-BE49-F238E27FC236}">
                <a16:creationId xmlns:a16="http://schemas.microsoft.com/office/drawing/2014/main" id="{2881DC9D-DA5D-D4E9-FC2D-627B61C222CA}"/>
              </a:ext>
            </a:extLst>
          </p:cNvPr>
          <p:cNvSpPr txBox="1"/>
          <p:nvPr/>
        </p:nvSpPr>
        <p:spPr>
          <a:xfrm>
            <a:off x="9168743" y="1738876"/>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46" name="TextBox 45">
            <a:extLst>
              <a:ext uri="{FF2B5EF4-FFF2-40B4-BE49-F238E27FC236}">
                <a16:creationId xmlns:a16="http://schemas.microsoft.com/office/drawing/2014/main" id="{50B7C0EF-CB54-BC75-F309-0D785BA775F4}"/>
              </a:ext>
            </a:extLst>
          </p:cNvPr>
          <p:cNvSpPr txBox="1">
            <a:spLocks/>
          </p:cNvSpPr>
          <p:nvPr/>
        </p:nvSpPr>
        <p:spPr>
          <a:xfrm>
            <a:off x="6452122" y="35912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Deeply Structured</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Implementation Priority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Order Taker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Unmanaged (for now)  </a:t>
            </a:r>
          </a:p>
        </p:txBody>
      </p:sp>
      <p:sp>
        <p:nvSpPr>
          <p:cNvPr id="47" name="Rectangle 46">
            <a:extLst>
              <a:ext uri="{FF2B5EF4-FFF2-40B4-BE49-F238E27FC236}">
                <a16:creationId xmlns:a16="http://schemas.microsoft.com/office/drawing/2014/main" id="{01302CD9-0366-FC78-AEA2-38BD1EC83C2E}"/>
              </a:ext>
            </a:extLst>
          </p:cNvPr>
          <p:cNvSpPr/>
          <p:nvPr/>
        </p:nvSpPr>
        <p:spPr>
          <a:xfrm>
            <a:off x="6322834" y="331714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48" name="TextBox 47">
            <a:extLst>
              <a:ext uri="{FF2B5EF4-FFF2-40B4-BE49-F238E27FC236}">
                <a16:creationId xmlns:a16="http://schemas.microsoft.com/office/drawing/2014/main" id="{8811162A-74E9-EA7C-90D4-613C317A1633}"/>
              </a:ext>
            </a:extLst>
          </p:cNvPr>
          <p:cNvSpPr txBox="1">
            <a:spLocks/>
          </p:cNvSpPr>
          <p:nvPr/>
        </p:nvSpPr>
        <p:spPr>
          <a:xfrm>
            <a:off x="9155881" y="36012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Does the charter enforce or coax good behavior?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Assigned AI Leadership roles (e.g. CAIO, CIO, CTO, CDAO, new role)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Regions, departments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Indicate where budget authority resides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Intended evolution direction </a:t>
            </a:r>
          </a:p>
        </p:txBody>
      </p:sp>
      <p:sp>
        <p:nvSpPr>
          <p:cNvPr id="49" name="TextBox 48">
            <a:extLst>
              <a:ext uri="{FF2B5EF4-FFF2-40B4-BE49-F238E27FC236}">
                <a16:creationId xmlns:a16="http://schemas.microsoft.com/office/drawing/2014/main" id="{EB73E01A-B5BD-32E3-DBC2-7FBFD00E5C8E}"/>
              </a:ext>
            </a:extLst>
          </p:cNvPr>
          <p:cNvSpPr txBox="1"/>
          <p:nvPr/>
        </p:nvSpPr>
        <p:spPr>
          <a:xfrm>
            <a:off x="6449072" y="3331211"/>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0" name="TextBox 49">
            <a:extLst>
              <a:ext uri="{FF2B5EF4-FFF2-40B4-BE49-F238E27FC236}">
                <a16:creationId xmlns:a16="http://schemas.microsoft.com/office/drawing/2014/main" id="{6F2F92C9-96BF-8CC5-6225-9F559550D8E6}"/>
              </a:ext>
            </a:extLst>
          </p:cNvPr>
          <p:cNvSpPr txBox="1"/>
          <p:nvPr/>
        </p:nvSpPr>
        <p:spPr>
          <a:xfrm>
            <a:off x="9166396" y="3329172"/>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51" name="TextBox 50">
            <a:extLst>
              <a:ext uri="{FF2B5EF4-FFF2-40B4-BE49-F238E27FC236}">
                <a16:creationId xmlns:a16="http://schemas.microsoft.com/office/drawing/2014/main" id="{DFE70ABE-06A6-335B-887B-19ADF0DE7A1A}"/>
              </a:ext>
            </a:extLst>
          </p:cNvPr>
          <p:cNvSpPr txBox="1">
            <a:spLocks/>
          </p:cNvSpPr>
          <p:nvPr/>
        </p:nvSpPr>
        <p:spPr>
          <a:xfrm>
            <a:off x="6449776" y="5144563"/>
            <a:ext cx="2587644" cy="831606"/>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Wait-and-See</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Ad Hoc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err="1">
                <a:ln>
                  <a:noFill/>
                </a:ln>
                <a:solidFill>
                  <a:srgbClr val="000000"/>
                </a:solidFill>
                <a:effectLst/>
                <a:uLnTx/>
                <a:uFillTx/>
                <a:latin typeface="Gartner Sans"/>
                <a:ea typeface="+mn-ea"/>
                <a:cs typeface="+mn-cs"/>
              </a:rPr>
              <a:t>Supercaution</a:t>
            </a: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AI-Centric </a:t>
            </a:r>
          </a:p>
        </p:txBody>
      </p:sp>
      <p:sp>
        <p:nvSpPr>
          <p:cNvPr id="52" name="Rectangle 51">
            <a:extLst>
              <a:ext uri="{FF2B5EF4-FFF2-40B4-BE49-F238E27FC236}">
                <a16:creationId xmlns:a16="http://schemas.microsoft.com/office/drawing/2014/main" id="{07442BB0-AE23-8687-8C74-7CA71C36B700}"/>
              </a:ext>
            </a:extLst>
          </p:cNvPr>
          <p:cNvSpPr/>
          <p:nvPr/>
        </p:nvSpPr>
        <p:spPr>
          <a:xfrm>
            <a:off x="6320488" y="4883433"/>
            <a:ext cx="5491552" cy="45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53" name="TextBox 52">
            <a:extLst>
              <a:ext uri="{FF2B5EF4-FFF2-40B4-BE49-F238E27FC236}">
                <a16:creationId xmlns:a16="http://schemas.microsoft.com/office/drawing/2014/main" id="{24D34449-8A5B-235D-2746-F91F291EDA96}"/>
              </a:ext>
            </a:extLst>
          </p:cNvPr>
          <p:cNvSpPr txBox="1">
            <a:spLocks/>
          </p:cNvSpPr>
          <p:nvPr/>
        </p:nvSpPr>
        <p:spPr>
          <a:xfrm>
            <a:off x="9153535" y="5154532"/>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Describe investments in data availability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Indicate future direction in data accessibility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Describe intended data governance policy evolution </a:t>
            </a:r>
          </a:p>
        </p:txBody>
      </p:sp>
      <p:sp>
        <p:nvSpPr>
          <p:cNvPr id="54" name="TextBox 53">
            <a:extLst>
              <a:ext uri="{FF2B5EF4-FFF2-40B4-BE49-F238E27FC236}">
                <a16:creationId xmlns:a16="http://schemas.microsoft.com/office/drawing/2014/main" id="{4BCCEC67-D14D-E588-BD73-D5839DEEF8DE}"/>
              </a:ext>
            </a:extLst>
          </p:cNvPr>
          <p:cNvSpPr txBox="1"/>
          <p:nvPr/>
        </p:nvSpPr>
        <p:spPr>
          <a:xfrm>
            <a:off x="6446726" y="4898579"/>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Summary</a:t>
            </a:r>
          </a:p>
        </p:txBody>
      </p:sp>
      <p:sp>
        <p:nvSpPr>
          <p:cNvPr id="55" name="TextBox 54">
            <a:extLst>
              <a:ext uri="{FF2B5EF4-FFF2-40B4-BE49-F238E27FC236}">
                <a16:creationId xmlns:a16="http://schemas.microsoft.com/office/drawing/2014/main" id="{341493E6-7442-D86C-0E56-2D296C8318DC}"/>
              </a:ext>
            </a:extLst>
          </p:cNvPr>
          <p:cNvSpPr txBox="1"/>
          <p:nvPr/>
        </p:nvSpPr>
        <p:spPr>
          <a:xfrm>
            <a:off x="9164050" y="4896540"/>
            <a:ext cx="1589314" cy="276999"/>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a:ea typeface="+mn-ea"/>
                <a:cs typeface="+mn-cs"/>
              </a:rPr>
              <a:t>Notes </a:t>
            </a:r>
          </a:p>
        </p:txBody>
      </p:sp>
      <p:sp>
        <p:nvSpPr>
          <p:cNvPr id="6" name="TextBox 5">
            <a:extLst>
              <a:ext uri="{FF2B5EF4-FFF2-40B4-BE49-F238E27FC236}">
                <a16:creationId xmlns:a16="http://schemas.microsoft.com/office/drawing/2014/main" id="{CC6E4E45-6721-580C-DC67-E78D9455E8FE}"/>
              </a:ext>
            </a:extLst>
          </p:cNvPr>
          <p:cNvSpPr txBox="1">
            <a:spLocks/>
          </p:cNvSpPr>
          <p:nvPr/>
        </p:nvSpPr>
        <p:spPr>
          <a:xfrm>
            <a:off x="1794125" y="2007609"/>
            <a:ext cx="1230732" cy="831606"/>
          </a:xfrm>
          <a:prstGeom prst="rect">
            <a:avLst/>
          </a:prstGeom>
          <a:solidFill>
            <a:schemeClr val="bg1">
              <a:lumMod val="95000"/>
            </a:schemeClr>
          </a:solidFill>
        </p:spPr>
        <p:txBody>
          <a:bodyPr wrap="square" lIns="0" rIns="0" rtlCol="0">
            <a:noAutofit/>
          </a:bodyPr>
          <a:lstStyle/>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Transform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Other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000000"/>
              </a:solidFill>
              <a:effectLst/>
              <a:uLnTx/>
              <a:uFillTx/>
              <a:latin typeface="Gartner Sans"/>
              <a:ea typeface="+mn-ea"/>
              <a:cs typeface="+mn-cs"/>
            </a:endParaRPr>
          </a:p>
        </p:txBody>
      </p:sp>
      <p:sp>
        <p:nvSpPr>
          <p:cNvPr id="8" name="TextBox 7">
            <a:extLst>
              <a:ext uri="{FF2B5EF4-FFF2-40B4-BE49-F238E27FC236}">
                <a16:creationId xmlns:a16="http://schemas.microsoft.com/office/drawing/2014/main" id="{674BF407-0AF9-40AE-8E7F-DC506D76F86F}"/>
              </a:ext>
            </a:extLst>
          </p:cNvPr>
          <p:cNvSpPr txBox="1">
            <a:spLocks/>
          </p:cNvSpPr>
          <p:nvPr/>
        </p:nvSpPr>
        <p:spPr>
          <a:xfrm>
            <a:off x="1119059" y="1877375"/>
            <a:ext cx="4051329" cy="3793698"/>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2" name="TextBox 1">
            <a:extLst>
              <a:ext uri="{FF2B5EF4-FFF2-40B4-BE49-F238E27FC236}">
                <a16:creationId xmlns:a16="http://schemas.microsoft.com/office/drawing/2014/main" id="{327B1D69-BF76-2184-0531-B607AA93061C}"/>
              </a:ext>
            </a:extLst>
          </p:cNvPr>
          <p:cNvSpPr txBox="1">
            <a:spLocks/>
          </p:cNvSpPr>
          <p:nvPr/>
        </p:nvSpPr>
        <p:spPr>
          <a:xfrm>
            <a:off x="9224396" y="1992490"/>
            <a:ext cx="2587644" cy="829550"/>
          </a:xfrm>
          <a:prstGeom prst="rect">
            <a:avLst/>
          </a:prstGeom>
          <a:solidFill>
            <a:schemeClr val="bg1">
              <a:lumMod val="95000"/>
            </a:schemeClr>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Who will own negative outcomes / address mistakes?</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Regional, departmental variations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Internal/external view</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artner Sans"/>
                <a:ea typeface="+mn-ea"/>
                <a:cs typeface="+mn-cs"/>
              </a:rPr>
              <a:t>RACI stringency </a:t>
            </a:r>
          </a:p>
        </p:txBody>
      </p:sp>
      <p:sp>
        <p:nvSpPr>
          <p:cNvPr id="9" name="TextBox 8">
            <a:extLst>
              <a:ext uri="{FF2B5EF4-FFF2-40B4-BE49-F238E27FC236}">
                <a16:creationId xmlns:a16="http://schemas.microsoft.com/office/drawing/2014/main" id="{C406CF0C-4405-03D6-0995-B1147269D744}"/>
              </a:ext>
            </a:extLst>
          </p:cNvPr>
          <p:cNvSpPr txBox="1">
            <a:spLocks/>
          </p:cNvSpPr>
          <p:nvPr/>
        </p:nvSpPr>
        <p:spPr>
          <a:xfrm>
            <a:off x="7011755" y="2076198"/>
            <a:ext cx="4051329" cy="2235759"/>
          </a:xfrm>
          <a:prstGeom prst="rect">
            <a:avLst/>
          </a:prstGeom>
          <a:solidFill>
            <a:schemeClr val="bg1">
              <a:lumMod val="95000"/>
            </a:schemeClr>
          </a:solidFill>
        </p:spPr>
        <p:txBody>
          <a:bodyPr wrap="square" lIns="0" rIns="0" rtlCol="0" anchor="ctr">
            <a:no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tner Sans"/>
                <a:ea typeface="+mn-ea"/>
                <a:cs typeface="+mn-cs"/>
              </a:rPr>
              <a:t>Done </a:t>
            </a:r>
          </a:p>
        </p:txBody>
      </p:sp>
      <p:sp>
        <p:nvSpPr>
          <p:cNvPr id="4" name="Rectangle 3">
            <a:extLst>
              <a:ext uri="{FF2B5EF4-FFF2-40B4-BE49-F238E27FC236}">
                <a16:creationId xmlns:a16="http://schemas.microsoft.com/office/drawing/2014/main" id="{E4BCF396-26AF-C9EA-896B-9A4DDBD6FDAC}"/>
              </a:ext>
            </a:extLst>
          </p:cNvPr>
          <p:cNvSpPr/>
          <p:nvPr/>
        </p:nvSpPr>
        <p:spPr>
          <a:xfrm>
            <a:off x="372219" y="914400"/>
            <a:ext cx="11444514" cy="1157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Gartner Sans"/>
              <a:ea typeface="+mn-ea"/>
              <a:cs typeface="+mn-cs"/>
            </a:endParaRPr>
          </a:p>
        </p:txBody>
      </p:sp>
      <p:sp>
        <p:nvSpPr>
          <p:cNvPr id="10" name="TextBox 9">
            <a:extLst>
              <a:ext uri="{FF2B5EF4-FFF2-40B4-BE49-F238E27FC236}">
                <a16:creationId xmlns:a16="http://schemas.microsoft.com/office/drawing/2014/main" id="{C42444A1-64D1-5421-D701-4022CBD5FD16}"/>
              </a:ext>
            </a:extLst>
          </p:cNvPr>
          <p:cNvSpPr txBox="1"/>
          <p:nvPr/>
        </p:nvSpPr>
        <p:spPr>
          <a:xfrm>
            <a:off x="369169" y="1032929"/>
            <a:ext cx="11447563" cy="33855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FFFFFF">
                    <a:lumMod val="65000"/>
                  </a:srgbClr>
                </a:solidFill>
                <a:effectLst/>
                <a:uLnTx/>
                <a:uFillTx/>
                <a:latin typeface="Gartner Sans"/>
                <a:ea typeface="+mn-ea"/>
                <a:cs typeface="+mn-cs"/>
              </a:rPr>
              <a:t>Vision summary</a:t>
            </a:r>
          </a:p>
        </p:txBody>
      </p:sp>
    </p:spTree>
    <p:extLst>
      <p:ext uri="{BB962C8B-B14F-4D97-AF65-F5344CB8AC3E}">
        <p14:creationId xmlns:p14="http://schemas.microsoft.com/office/powerpoint/2010/main" val="2992056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93BA-EA33-DA83-E650-E9DFE8FCD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92A5C-26B7-9EB0-1854-FD3FD3DA239F}"/>
              </a:ext>
            </a:extLst>
          </p:cNvPr>
          <p:cNvSpPr>
            <a:spLocks noGrp="1"/>
          </p:cNvSpPr>
          <p:nvPr>
            <p:ph type="title"/>
          </p:nvPr>
        </p:nvSpPr>
        <p:spPr/>
        <p:txBody>
          <a:bodyPr/>
          <a:lstStyle/>
          <a:p>
            <a:r>
              <a:rPr lang="en-US" dirty="0"/>
              <a:t>Voila! </a:t>
            </a:r>
            <a:br>
              <a:rPr lang="en-US" dirty="0"/>
            </a:br>
            <a:r>
              <a:rPr lang="en-US" sz="2000" dirty="0">
                <a:latin typeface="+mn-lt"/>
              </a:rPr>
              <a:t>You should now have a 1-Page Strategy to start with. </a:t>
            </a:r>
            <a:endParaRPr lang="en-US" dirty="0">
              <a:latin typeface="+mn-lt"/>
            </a:endParaRPr>
          </a:p>
        </p:txBody>
      </p:sp>
    </p:spTree>
    <p:extLst>
      <p:ext uri="{BB962C8B-B14F-4D97-AF65-F5344CB8AC3E}">
        <p14:creationId xmlns:p14="http://schemas.microsoft.com/office/powerpoint/2010/main" val="1720050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6614-85A4-DC38-1E03-E949B0EEF586}"/>
              </a:ext>
            </a:extLst>
          </p:cNvPr>
          <p:cNvSpPr>
            <a:spLocks noGrp="1"/>
          </p:cNvSpPr>
          <p:nvPr>
            <p:ph type="title"/>
          </p:nvPr>
        </p:nvSpPr>
        <p:spPr/>
        <p:txBody>
          <a:bodyPr/>
          <a:lstStyle/>
          <a:p>
            <a:r>
              <a:rPr lang="en-US"/>
              <a:t>Now What? Putting Your One-Page Strategy to Work</a:t>
            </a:r>
          </a:p>
        </p:txBody>
      </p:sp>
      <p:sp>
        <p:nvSpPr>
          <p:cNvPr id="3" name="Content Placeholder 2">
            <a:extLst>
              <a:ext uri="{FF2B5EF4-FFF2-40B4-BE49-F238E27FC236}">
                <a16:creationId xmlns:a16="http://schemas.microsoft.com/office/drawing/2014/main" id="{89287583-B84A-6B19-9620-276FC83767C6}"/>
              </a:ext>
            </a:extLst>
          </p:cNvPr>
          <p:cNvSpPr>
            <a:spLocks noGrp="1"/>
          </p:cNvSpPr>
          <p:nvPr>
            <p:ph idx="1"/>
          </p:nvPr>
        </p:nvSpPr>
        <p:spPr/>
        <p:txBody>
          <a:bodyPr/>
          <a:lstStyle/>
          <a:p>
            <a:pPr>
              <a:spcBef>
                <a:spcPts val="900"/>
              </a:spcBef>
              <a:buFont typeface="Wingdings" pitchFamily="2" charset="2"/>
              <a:buChar char="q"/>
            </a:pPr>
            <a:r>
              <a:rPr lang="en-US" dirty="0"/>
              <a:t>  Share and align</a:t>
            </a:r>
          </a:p>
          <a:p>
            <a:pPr>
              <a:spcBef>
                <a:spcPts val="900"/>
              </a:spcBef>
              <a:buFont typeface="Wingdings" pitchFamily="2" charset="2"/>
              <a:buChar char="q"/>
            </a:pPr>
            <a:r>
              <a:rPr lang="en-US" dirty="0"/>
              <a:t>  Assign ownership</a:t>
            </a:r>
          </a:p>
          <a:p>
            <a:pPr>
              <a:spcBef>
                <a:spcPts val="900"/>
              </a:spcBef>
              <a:buFont typeface="Wingdings" pitchFamily="2" charset="2"/>
              <a:buChar char="q"/>
            </a:pPr>
            <a:r>
              <a:rPr lang="en-US" dirty="0"/>
              <a:t>  Translate the strategy into action plans</a:t>
            </a:r>
          </a:p>
          <a:p>
            <a:pPr>
              <a:spcBef>
                <a:spcPts val="900"/>
              </a:spcBef>
              <a:buFont typeface="Wingdings" pitchFamily="2" charset="2"/>
              <a:buChar char="q"/>
            </a:pPr>
            <a:r>
              <a:rPr lang="en-US" dirty="0"/>
              <a:t>  Define use cases</a:t>
            </a:r>
          </a:p>
          <a:p>
            <a:pPr>
              <a:spcBef>
                <a:spcPts val="900"/>
              </a:spcBef>
              <a:buFont typeface="Wingdings" pitchFamily="2" charset="2"/>
              <a:buChar char="q"/>
            </a:pPr>
            <a:r>
              <a:rPr lang="en-US" dirty="0"/>
              <a:t>  Communicate continuously</a:t>
            </a:r>
          </a:p>
          <a:p>
            <a:pPr>
              <a:spcBef>
                <a:spcPts val="900"/>
              </a:spcBef>
              <a:buFont typeface="Wingdings" pitchFamily="2" charset="2"/>
              <a:buChar char="q"/>
            </a:pPr>
            <a:r>
              <a:rPr lang="en-US" dirty="0"/>
              <a:t>  Identify gaps</a:t>
            </a:r>
          </a:p>
          <a:p>
            <a:pPr>
              <a:spcBef>
                <a:spcPts val="900"/>
              </a:spcBef>
              <a:buFont typeface="Wingdings" pitchFamily="2" charset="2"/>
              <a:buChar char="q"/>
            </a:pPr>
            <a:r>
              <a:rPr lang="en-US" dirty="0"/>
              <a:t>  Identify key risks and governance approach</a:t>
            </a:r>
          </a:p>
          <a:p>
            <a:pPr>
              <a:spcBef>
                <a:spcPts val="900"/>
              </a:spcBef>
              <a:buFont typeface="Wingdings" pitchFamily="2" charset="2"/>
              <a:buChar char="q"/>
            </a:pPr>
            <a:r>
              <a:rPr lang="en-US" dirty="0"/>
              <a:t>  Review and Iterate</a:t>
            </a:r>
          </a:p>
          <a:p>
            <a:pPr>
              <a:spcBef>
                <a:spcPts val="900"/>
              </a:spcBef>
              <a:buFont typeface="Wingdings" pitchFamily="2" charset="2"/>
              <a:buChar char="q"/>
            </a:pPr>
            <a:r>
              <a:rPr lang="en-US" dirty="0"/>
              <a:t>  Drive culture and literacy</a:t>
            </a:r>
          </a:p>
          <a:p>
            <a:pPr marL="0" indent="0">
              <a:spcBef>
                <a:spcPts val="2400"/>
              </a:spcBef>
              <a:buNone/>
            </a:pPr>
            <a:r>
              <a:rPr lang="en-US" dirty="0"/>
              <a:t>Then dig deep using Gartner’s AI strategy planning resources on the next slide.</a:t>
            </a:r>
          </a:p>
        </p:txBody>
      </p:sp>
    </p:spTree>
    <p:extLst>
      <p:ext uri="{BB962C8B-B14F-4D97-AF65-F5344CB8AC3E}">
        <p14:creationId xmlns:p14="http://schemas.microsoft.com/office/powerpoint/2010/main" val="2743041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A170-84D3-CAE1-2B9F-DD770CD71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0DE16-EB70-C31F-9DFF-5CCD85F4875A}"/>
              </a:ext>
            </a:extLst>
          </p:cNvPr>
          <p:cNvSpPr>
            <a:spLocks noGrp="1"/>
          </p:cNvSpPr>
          <p:nvPr>
            <p:ph type="title"/>
          </p:nvPr>
        </p:nvSpPr>
        <p:spPr/>
        <p:txBody>
          <a:bodyPr/>
          <a:lstStyle/>
          <a:p>
            <a:r>
              <a:rPr lang="en-US"/>
              <a:t>Recommended AI Strategy Planning Resources</a:t>
            </a:r>
          </a:p>
        </p:txBody>
      </p:sp>
      <p:sp>
        <p:nvSpPr>
          <p:cNvPr id="3" name="Content Placeholder 2">
            <a:extLst>
              <a:ext uri="{FF2B5EF4-FFF2-40B4-BE49-F238E27FC236}">
                <a16:creationId xmlns:a16="http://schemas.microsoft.com/office/drawing/2014/main" id="{AB86FA44-570B-94F9-F3AD-412B219BB745}"/>
              </a:ext>
            </a:extLst>
          </p:cNvPr>
          <p:cNvSpPr>
            <a:spLocks noGrp="1"/>
          </p:cNvSpPr>
          <p:nvPr>
            <p:ph idx="1"/>
          </p:nvPr>
        </p:nvSpPr>
        <p:spPr/>
        <p:txBody>
          <a:bodyPr/>
          <a:lstStyle/>
          <a:p>
            <a:pPr marL="0" indent="0">
              <a:spcBef>
                <a:spcPts val="0"/>
              </a:spcBef>
              <a:buNone/>
            </a:pPr>
            <a:r>
              <a:rPr lang="en-US"/>
              <a:t>A Strategic Guide for Maturing AI</a:t>
            </a:r>
          </a:p>
          <a:p>
            <a:pPr marL="0" indent="0">
              <a:spcBef>
                <a:spcPts val="0"/>
              </a:spcBef>
              <a:buNone/>
            </a:pPr>
            <a:r>
              <a:rPr lang="en-US">
                <a:hlinkClick r:id="rId2"/>
              </a:rPr>
              <a:t>https://www.gartner.com/document-reader/document/7037198</a:t>
            </a:r>
            <a:endParaRPr lang="en-US"/>
          </a:p>
          <a:p>
            <a:pPr marL="0" indent="0">
              <a:spcBef>
                <a:spcPts val="0"/>
              </a:spcBef>
              <a:buNone/>
            </a:pPr>
            <a:endParaRPr lang="en-US"/>
          </a:p>
          <a:p>
            <a:pPr marL="0" indent="0">
              <a:spcBef>
                <a:spcPts val="0"/>
              </a:spcBef>
              <a:buNone/>
            </a:pPr>
            <a:r>
              <a:rPr lang="en-US"/>
              <a:t>Reference Guide for AI Strategy</a:t>
            </a:r>
          </a:p>
          <a:p>
            <a:pPr marL="0" indent="0">
              <a:spcBef>
                <a:spcPts val="0"/>
              </a:spcBef>
              <a:buNone/>
            </a:pPr>
            <a:r>
              <a:rPr lang="en-US">
                <a:hlinkClick r:id="rId3"/>
              </a:rPr>
              <a:t>https://www.gartner.com/document-reader/document/6676234</a:t>
            </a:r>
            <a:endParaRPr lang="en-US"/>
          </a:p>
          <a:p>
            <a:pPr marL="0" indent="0">
              <a:spcBef>
                <a:spcPts val="0"/>
              </a:spcBef>
              <a:buNone/>
            </a:pPr>
            <a:endParaRPr lang="en-US"/>
          </a:p>
          <a:p>
            <a:pPr marL="0" indent="0">
              <a:spcBef>
                <a:spcPts val="0"/>
              </a:spcBef>
              <a:buNone/>
            </a:pPr>
            <a:r>
              <a:rPr lang="en-US"/>
              <a:t>AI Leaders: Maturity Guide for AI Leaders</a:t>
            </a:r>
          </a:p>
          <a:p>
            <a:pPr marL="0" indent="0">
              <a:spcBef>
                <a:spcPts val="0"/>
              </a:spcBef>
              <a:buNone/>
            </a:pPr>
            <a:r>
              <a:rPr lang="en-US">
                <a:hlinkClick r:id="rId4"/>
              </a:rPr>
              <a:t>https://www.gartner.com/document-reader/document/6385043</a:t>
            </a:r>
            <a:endParaRPr lang="en-US"/>
          </a:p>
          <a:p>
            <a:pPr marL="0" indent="0">
              <a:spcBef>
                <a:spcPts val="0"/>
              </a:spcBef>
              <a:buNone/>
            </a:pPr>
            <a:endParaRPr lang="en-US"/>
          </a:p>
          <a:p>
            <a:pPr marL="0" indent="0">
              <a:spcBef>
                <a:spcPts val="0"/>
              </a:spcBef>
              <a:buNone/>
            </a:pPr>
            <a:r>
              <a:rPr lang="en-US"/>
              <a:t>Toolkit: Build Your Organization’s AI Roadmap</a:t>
            </a:r>
          </a:p>
          <a:p>
            <a:pPr marL="0" indent="0">
              <a:spcBef>
                <a:spcPts val="0"/>
              </a:spcBef>
              <a:buNone/>
            </a:pPr>
            <a:r>
              <a:rPr lang="en-US">
                <a:hlinkClick r:id="rId5"/>
              </a:rPr>
              <a:t>https://www.gartner.com/document-reader/document/5938007</a:t>
            </a: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a:p>
            <a:pPr marL="0" indent="0">
              <a:spcBef>
                <a:spcPts val="0"/>
              </a:spcBef>
              <a:buNone/>
            </a:pPr>
            <a:endParaRPr lang="en-US"/>
          </a:p>
        </p:txBody>
      </p:sp>
    </p:spTree>
    <p:extLst>
      <p:ext uri="{BB962C8B-B14F-4D97-AF65-F5344CB8AC3E}">
        <p14:creationId xmlns:p14="http://schemas.microsoft.com/office/powerpoint/2010/main" val="3993712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A6B42-1F7C-F613-6A79-69AA344ED0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899F-56A6-1319-DFBB-5EBBEE92152F}"/>
              </a:ext>
            </a:extLst>
          </p:cNvPr>
          <p:cNvSpPr>
            <a:spLocks noGrp="1"/>
          </p:cNvSpPr>
          <p:nvPr>
            <p:ph type="title"/>
          </p:nvPr>
        </p:nvSpPr>
        <p:spPr/>
        <p:txBody>
          <a:bodyPr/>
          <a:lstStyle/>
          <a:p>
            <a:r>
              <a:rPr lang="en-US"/>
              <a:t>What Your 1-Page  Strategy … Is </a:t>
            </a:r>
            <a:r>
              <a:rPr lang="en-US" i="1"/>
              <a:t>Not</a:t>
            </a:r>
          </a:p>
        </p:txBody>
      </p:sp>
    </p:spTree>
    <p:extLst>
      <p:ext uri="{BB962C8B-B14F-4D97-AF65-F5344CB8AC3E}">
        <p14:creationId xmlns:p14="http://schemas.microsoft.com/office/powerpoint/2010/main" val="23782769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A0790-5F8B-444A-D9DF-F7936FD41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8B9F3-B1CA-A0AD-967F-538B6121637A}"/>
              </a:ext>
            </a:extLst>
          </p:cNvPr>
          <p:cNvSpPr>
            <a:spLocks noGrp="1"/>
          </p:cNvSpPr>
          <p:nvPr>
            <p:ph type="title"/>
          </p:nvPr>
        </p:nvSpPr>
        <p:spPr/>
        <p:txBody>
          <a:bodyPr/>
          <a:lstStyle/>
          <a:p>
            <a:r>
              <a:rPr lang="en-US"/>
              <a:t>Understanding the Boundaries of the One-Page Strategy</a:t>
            </a:r>
          </a:p>
        </p:txBody>
      </p:sp>
      <p:sp>
        <p:nvSpPr>
          <p:cNvPr id="3" name="Content Placeholder 2">
            <a:extLst>
              <a:ext uri="{FF2B5EF4-FFF2-40B4-BE49-F238E27FC236}">
                <a16:creationId xmlns:a16="http://schemas.microsoft.com/office/drawing/2014/main" id="{3D0B6D60-7AD4-CF6A-D454-48EEA756E1F7}"/>
              </a:ext>
            </a:extLst>
          </p:cNvPr>
          <p:cNvSpPr>
            <a:spLocks noGrp="1"/>
          </p:cNvSpPr>
          <p:nvPr>
            <p:ph idx="1"/>
          </p:nvPr>
        </p:nvSpPr>
        <p:spPr/>
        <p:txBody>
          <a:bodyPr/>
          <a:lstStyle/>
          <a:p>
            <a:pPr marL="0" indent="0">
              <a:spcBef>
                <a:spcPts val="600"/>
              </a:spcBef>
              <a:buNone/>
            </a:pPr>
            <a:r>
              <a:rPr lang="en-US" sz="1600" b="1" dirty="0"/>
              <a:t>What’s Not Included in the One-Page Strategy?</a:t>
            </a:r>
            <a:endParaRPr lang="en-US" sz="1600" dirty="0"/>
          </a:p>
          <a:p>
            <a:pPr>
              <a:spcBef>
                <a:spcPts val="600"/>
              </a:spcBef>
            </a:pPr>
            <a:r>
              <a:rPr lang="en-US" sz="1600" u="sng" dirty="0"/>
              <a:t>No deep dives</a:t>
            </a:r>
            <a:r>
              <a:rPr lang="en-US" sz="1600" dirty="0"/>
              <a:t>: The one-pager does not provide detailed analysis or execution plans for individual use cases, competitive strategies, technical architectures, or any specific strategic pillar.</a:t>
            </a:r>
          </a:p>
          <a:p>
            <a:pPr>
              <a:spcBef>
                <a:spcPts val="600"/>
              </a:spcBef>
            </a:pPr>
            <a:r>
              <a:rPr lang="en-US" sz="1600" u="sng" dirty="0"/>
              <a:t>No tactical roadmaps</a:t>
            </a:r>
            <a:r>
              <a:rPr lang="en-US" sz="1600" dirty="0"/>
              <a:t>: You won’t find timelines, resource allocations, or step-by-step implementation plans.</a:t>
            </a:r>
          </a:p>
          <a:p>
            <a:pPr>
              <a:spcBef>
                <a:spcPts val="600"/>
              </a:spcBef>
            </a:pPr>
            <a:r>
              <a:rPr lang="en-US" sz="1600" u="sng" dirty="0"/>
              <a:t>No comprehensive risk or compliance frameworks</a:t>
            </a:r>
            <a:r>
              <a:rPr lang="en-US" sz="1600" dirty="0"/>
              <a:t>: The document does not address regulatory, ethical, or risk management details.</a:t>
            </a:r>
          </a:p>
          <a:p>
            <a:pPr>
              <a:spcBef>
                <a:spcPts val="600"/>
              </a:spcBef>
            </a:pPr>
            <a:r>
              <a:rPr lang="en-US" sz="1600" u="sng" dirty="0"/>
              <a:t>No financials</a:t>
            </a:r>
            <a:r>
              <a:rPr lang="en-US" sz="1600" dirty="0"/>
              <a:t>: Budgeting, ROI calculations, and investment strategies are not covered.</a:t>
            </a:r>
          </a:p>
          <a:p>
            <a:pPr>
              <a:spcBef>
                <a:spcPts val="600"/>
              </a:spcBef>
            </a:pPr>
            <a:r>
              <a:rPr lang="en-US" sz="1600" u="sng" dirty="0"/>
              <a:t>No change management or training plans</a:t>
            </a:r>
            <a:r>
              <a:rPr lang="en-US" sz="1600" dirty="0"/>
              <a:t>: The strategy does not specify how to upskill teams or manage organizational change.</a:t>
            </a:r>
          </a:p>
          <a:p>
            <a:pPr marL="0" indent="0">
              <a:spcBef>
                <a:spcPts val="600"/>
              </a:spcBef>
              <a:buNone/>
            </a:pPr>
            <a:r>
              <a:rPr lang="en-US" sz="1600" b="1" dirty="0"/>
              <a:t>Why This Matters:</a:t>
            </a:r>
            <a:endParaRPr lang="en-US" sz="1600" dirty="0"/>
          </a:p>
          <a:p>
            <a:pPr>
              <a:spcBef>
                <a:spcPts val="600"/>
              </a:spcBef>
            </a:pPr>
            <a:r>
              <a:rPr lang="en-US" sz="1600" dirty="0"/>
              <a:t>The one-page strategy is a high-level alignment tool. It is designed to spark discussion, clarify vision, and ensure agreement on core components.</a:t>
            </a:r>
          </a:p>
          <a:p>
            <a:pPr>
              <a:spcBef>
                <a:spcPts val="600"/>
              </a:spcBef>
            </a:pPr>
            <a:r>
              <a:rPr lang="en-US" sz="1600" dirty="0"/>
              <a:t>Detailed planning, prioritization of use cases, and operational workstreams are critical next steps—and must be developed collaboratively by cross-functional teams.</a:t>
            </a:r>
          </a:p>
          <a:p>
            <a:pPr>
              <a:spcBef>
                <a:spcPts val="600"/>
              </a:spcBef>
            </a:pPr>
            <a:r>
              <a:rPr lang="en-US" sz="1600" dirty="0"/>
              <a:t>Use the one-pager as a foundation for deeper dives, not as a substitute for comprehensive planning and execution.</a:t>
            </a:r>
            <a:br>
              <a:rPr lang="en-US" sz="1600" dirty="0"/>
            </a:br>
            <a:endParaRPr lang="en-US" sz="1600" dirty="0"/>
          </a:p>
          <a:p>
            <a:pPr marL="0" indent="0">
              <a:spcBef>
                <a:spcPts val="600"/>
              </a:spcBef>
              <a:buNone/>
            </a:pPr>
            <a:endParaRPr lang="en-US" dirty="0"/>
          </a:p>
        </p:txBody>
      </p:sp>
    </p:spTree>
    <p:extLst>
      <p:ext uri="{BB962C8B-B14F-4D97-AF65-F5344CB8AC3E}">
        <p14:creationId xmlns:p14="http://schemas.microsoft.com/office/powerpoint/2010/main" val="412394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33C3A0C-E5F3-49C6-8FE5-EA4FAE3272EF}"/>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1F96FF"/>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198240C-8A10-4D26-B418-EE7C2F363812}"/>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D8F2B47A-9B41-4434-9B73-5A44EB567CAA}"/>
    </a:ext>
  </a:extLst>
</a:theme>
</file>

<file path=ppt/theme/theme4.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23B73DB3632340A8C8FEE6EFDC4F94" ma:contentTypeVersion="7" ma:contentTypeDescription="Create a new document." ma:contentTypeScope="" ma:versionID="a44e4b9dde152e715fe3ab93679f971e">
  <xsd:schema xmlns:xsd="http://www.w3.org/2001/XMLSchema" xmlns:xs="http://www.w3.org/2001/XMLSchema" xmlns:p="http://schemas.microsoft.com/office/2006/metadata/properties" xmlns:ns2="4890911a-406b-4a21-a8f6-655236cc89c3" targetNamespace="http://schemas.microsoft.com/office/2006/metadata/properties" ma:root="true" ma:fieldsID="03eb6af99cecbff0d9dcbb855affef69" ns2:_="">
    <xsd:import namespace="4890911a-406b-4a21-a8f6-655236cc89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90911a-406b-4a21-a8f6-655236cc89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168451-C131-4B1B-8C29-F7A589E95D07}"/>
</file>

<file path=customXml/itemProps2.xml><?xml version="1.0" encoding="utf-8"?>
<ds:datastoreItem xmlns:ds="http://schemas.openxmlformats.org/officeDocument/2006/customXml" ds:itemID="{849EAD55-449F-4D7E-ADE7-D5D587B8A89C}">
  <ds:schemaRefs>
    <ds:schemaRef ds:uri="http://purl.org/dc/terms/"/>
    <ds:schemaRef ds:uri="http://schemas.microsoft.com/office/2006/documentManagement/types"/>
    <ds:schemaRef ds:uri="e8db9336-2e0a-439c-92aa-d25193e77693"/>
    <ds:schemaRef ds:uri="http://schemas.microsoft.com/office/infopath/2007/PartnerControls"/>
    <ds:schemaRef ds:uri="http://schemas.openxmlformats.org/package/2006/metadata/core-properties"/>
    <ds:schemaRef ds:uri="http://purl.org/dc/dcmitype/"/>
    <ds:schemaRef ds:uri="http://schemas.microsoft.com/office/2006/metadata/properties"/>
    <ds:schemaRef ds:uri="http://purl.org/dc/elements/1.1/"/>
    <ds:schemaRef ds:uri="728be415-658a-42da-8ffe-674acc25e01a"/>
    <ds:schemaRef ds:uri="http://www.w3.org/XML/1998/namespace"/>
  </ds:schemaRefs>
</ds:datastoreItem>
</file>

<file path=customXml/itemProps3.xml><?xml version="1.0" encoding="utf-8"?>
<ds:datastoreItem xmlns:ds="http://schemas.openxmlformats.org/officeDocument/2006/customXml" ds:itemID="{DD58161F-F219-4A24-851A-E0789092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Toolkit_Tool_Blank_PowerPoint_Template</Template>
  <TotalTime>396</TotalTime>
  <Words>2928</Words>
  <Application>Microsoft Office PowerPoint</Application>
  <PresentationFormat>Widescreen</PresentationFormat>
  <Paragraphs>542</Paragraphs>
  <Slides>27</Slides>
  <Notes>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Gartner Sans</vt:lpstr>
      <vt:lpstr>Wingdings</vt:lpstr>
      <vt:lpstr>Arial Black</vt:lpstr>
      <vt:lpstr>Arial</vt:lpstr>
      <vt:lpstr>Gartner Sans Semibold</vt:lpstr>
      <vt:lpstr>White bkgrnd master</vt:lpstr>
      <vt:lpstr>Blue bkgrnd master</vt:lpstr>
      <vt:lpstr>Crystal bkgrnd master</vt:lpstr>
      <vt:lpstr>Make a One-Page AI Strategy The one-page strategy is a living document—use it to guide decisions, foster alignment, and drive measurable progress on your AI journey. </vt:lpstr>
      <vt:lpstr>What’s in this Package</vt:lpstr>
      <vt:lpstr>What to Expect </vt:lpstr>
      <vt:lpstr>You Will Have a 1-Page Strategy in 7 Steps…</vt:lpstr>
      <vt:lpstr>AI Strategy Title</vt:lpstr>
      <vt:lpstr>AI Vision – Step 1 </vt:lpstr>
      <vt:lpstr>Vision Inspiration: Map Measures to Business Priorities</vt:lpstr>
      <vt:lpstr>Remember: AI is different because AI… </vt:lpstr>
      <vt:lpstr>Step 1 of 7 - Start with an AI Vision to Align To </vt:lpstr>
      <vt:lpstr>Draft the Strategy  (Step 2-7)</vt:lpstr>
      <vt:lpstr>Step 2 of 7 - Value </vt:lpstr>
      <vt:lpstr>AI Strategy Title</vt:lpstr>
      <vt:lpstr>Step 3 of 7 - People and Culture </vt:lpstr>
      <vt:lpstr>AI Strategy Title</vt:lpstr>
      <vt:lpstr>Step 4 of 7 - Engineering (Buy/Build/Blend Approach)</vt:lpstr>
      <vt:lpstr>AI Strategy Title</vt:lpstr>
      <vt:lpstr>Step 5 of 7 - Governance </vt:lpstr>
      <vt:lpstr>AI Strategy Title</vt:lpstr>
      <vt:lpstr>Step 6 of 7 - Organization  </vt:lpstr>
      <vt:lpstr>AI Strategy Title</vt:lpstr>
      <vt:lpstr>Step 7 of 7 - Data Sources  </vt:lpstr>
      <vt:lpstr>AI Strategy Title</vt:lpstr>
      <vt:lpstr>Voila!  You should now have a 1-Page Strategy to start with. </vt:lpstr>
      <vt:lpstr>Now What? Putting Your One-Page Strategy to Work</vt:lpstr>
      <vt:lpstr>Recommended AI Strategy Planning Resources</vt:lpstr>
      <vt:lpstr>What Your 1-Page  Strategy … Is Not</vt:lpstr>
      <vt:lpstr>Understanding the Boundaries of the One-Page Strategy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Brittney Cleveland</dc:creator>
  <cp:keywords/>
  <dc:description/>
  <cp:lastModifiedBy>Drew Doolin</cp:lastModifiedBy>
  <cp:revision>4</cp:revision>
  <dcterms:created xsi:type="dcterms:W3CDTF">2026-03-18T15:42:57Z</dcterms:created>
  <dcterms:modified xsi:type="dcterms:W3CDTF">2026-05-28T19:12:23Z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0x010100D423B73DB3632340A8C8FEE6EFDC4F94</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9c3b0525-b494-4153-af86-bbb948020a62</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_dlc_DocIdPersistId">
    <vt:bool>false</vt:bool>
  </property>
</Properties>
</file>